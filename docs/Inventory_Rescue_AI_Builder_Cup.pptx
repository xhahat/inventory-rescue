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11-model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API,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(no local Docker)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11-model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(159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91414"/>
            <a:ext cx="4160520" cy="147710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options: the same ₹10 lakh four ways, tested in calm and shocked futures</a:t>
            </a:r>
          </a:p>
        </p:txBody>
      </p:sp>
      <p:pic>
        <p:nvPicPr>
          <p:cNvPr id="138" name="Picture 137" descr="crop_1_assist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93875"/>
            <a:ext cx="4160520" cy="167218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assistant: “10 lakh vs 15 lakh?” answered from a planner tool; 34 values checked</a:t>
            </a:r>
          </a:p>
        </p:txBody>
      </p:sp>
      <p:pic>
        <p:nvPicPr>
          <p:cNvPr id="140" name="Picture 139" descr="crop_2_sim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157038"/>
            <a:ext cx="4160520" cy="154976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(default): three big buttons; budget, then how to buy</a:t>
            </a:r>
          </a:p>
        </p:txBody>
      </p:sp>
      <p:pic>
        <p:nvPicPr>
          <p:cNvPr id="142" name="Picture 141" descr="crop_3_pl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531870"/>
            <a:ext cx="4160520" cy="800099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Robustness: 120 simulated futures vs reorder rules; weekly re-planning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159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Which LLM? The same evaluations on 11 models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868680"/>
                <a:gridCol w="868680"/>
                <a:gridCol w="868680"/>
                <a:gridCol w="1234440"/>
                <a:gridCol w="1234440"/>
                <a:gridCol w="1143000"/>
                <a:gridCol w="960120"/>
              </a:tblGrid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Model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F1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Messages correct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Signal value kept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Forecast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Text-only WAPE (statistical)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checked (first try)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Assistant median</a:t>
                      </a:r>
                    </a:p>
                  </a:txBody>
                  <a:tcPr marL="45720" marR="45720" marT="18288" marB="18288" anchor="ctr">
                    <a:solidFill>
                      <a:srgbClr val="20212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gemini-3.5-flash-lite (default)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22.2% (23.9%)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4.0 s</a:t>
                      </a:r>
                    </a:p>
                  </a:txBody>
                  <a:tcPr marL="45720" marR="45720" marT="18288" marB="18288" anchor="ctr">
                    <a:solidFill>
                      <a:srgbClr val="E8F0F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claudesonnet4.5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1.000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19.0%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30.4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gpt-5.1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20.9%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19.6%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11.9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claudesonnet4.6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20.1%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qwen3.6-27b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0.966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21.0%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claudeopus5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12.3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gpt-5.6-luna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20.3%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14.8 s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21.3% (23.0%)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21.2% (23.9%)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(6)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8.4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gpt-5.3-chat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0.983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97.5%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(23.0%)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21.6% (23.9%)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0/6 (0)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–</a:t>
                      </a:r>
                    </a:p>
                  </a:txBody>
                  <a:tcPr marL="45720" marR="45720" marT="18288" marB="18288" anchor="ctr">
                    <a:solidFill>
                      <a:srgbClr val="F1F3F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gpt-5.4-mini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0.968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95.0%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21.5% (23.1%)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21.9% (24.2%)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(5)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3.9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224528"/>
            <a:ext cx="85039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model beats the statistical forecast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(by 1.7–4.9 pp on text-only series); extraction is near saturated (38–40 of 40 messages). gemini-3.5-flash-lite (Gemini API) is the default: as fast as the quickest model and 6 / 6 assistant answers checked; a stronger model could run the overnight forecasts.</a:t>
            </a:r>
          </a:p>
          <a:p>
            <a:pPr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value kept: share of the gold-signal plan gain kept by plans built from the model's signals (found and fixed an end-date bug: −17% → 100%). gpt-5.3-chat's gateway rejects tool calls. Larger Gemini models need a paid key (free tier: 20 requests a day).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