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70" r:id="rId20"/>
    <p:sldId id="268" r:id="rId18"/>
    <p:sldId id="269" r:id="rId19"/>
    <p:sldId id="271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Simulated 30-day loss at a ₹10 lakh budget (₹ lakh, lower is better)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Static reorder rule</c:v>
                </c:pt>
              </c:strCache>
            </c:strRef>
          </c:tx>
          <c:spPr>
            <a:solidFill>
              <a:srgbClr val="BDC1C6"/>
            </a:solidFill>
          </c:spPr>
          <c:cat>
            <c:strRef>
              <c:f>Sheet1!$A$2:$A$3</c:f>
              <c:strCache>
                <c:ptCount val="2"/>
                <c:pt idx="0">
                  <c:v>Actual simulated month</c:v>
                </c:pt>
                <c:pt idx="1">
                  <c:v>Mean of 120 simulated futures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30.59</c:v>
                </c:pt>
                <c:pt idx="1">
                  <c:v>31.91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Tuned reorder rule</c:v>
                </c:pt>
              </c:strCache>
            </c:strRef>
          </c:tx>
          <c:spPr>
            <a:solidFill>
              <a:srgbClr val="9AA0A6"/>
            </a:solidFill>
          </c:spPr>
          <c:cat>
            <c:strRef>
              <c:f>Sheet1!$A$2:$A$3</c:f>
              <c:strCache>
                <c:ptCount val="2"/>
                <c:pt idx="0">
                  <c:v>Actual simulated month</c:v>
                </c:pt>
                <c:pt idx="1">
                  <c:v>Mean of 120 simulated futures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28.15</c:v>
                </c:pt>
                <c:pt idx="1">
                  <c:v>29.98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Inventory Rescue plan</c:v>
                </c:pt>
              </c:strCache>
            </c:strRef>
          </c:tx>
          <c:spPr>
            <a:solidFill>
              <a:srgbClr val="1A73E8"/>
            </a:solidFill>
          </c:spPr>
          <c:cat>
            <c:strRef>
              <c:f>Sheet1!$A$2:$A$3</c:f>
              <c:strCache>
                <c:ptCount val="2"/>
                <c:pt idx="0">
                  <c:v>Actual simulated month</c:v>
                </c:pt>
                <c:pt idx="1">
                  <c:v>Mean of 120 simulated futures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26.59</c:v>
                </c:pt>
                <c:pt idx="1">
                  <c:v>28.13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800">
                  <a:latin typeface="Google Sans Flex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50">
                <a:latin typeface="Google Sans Flex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6.0"/>
          <c:min val="0.0"/>
        </c:scaling>
        <c:delete val="0"/>
        <c:axPos val="l"/>
        <c:majorGridlines>
          <c:spPr>
            <a:ln>
              <a:solidFill>
                <a:srgbClr val="E8EAED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75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Google Sans Flex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lang="en-GB" sz="13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Fantastic Four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lang="en-GB" sz="13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Ashish Kumar Singh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lang="en-GB" sz="13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Growing food &amp; nutrition brands lose lakhs a month to stockouts and expired stock because supplier delays and demand spikes arrive as unstructured messages, and limited cash forces hard buy / expedite / discount trade-offs.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TextBox 56"/>
          <p:cNvSpPr txBox="1"/>
          <p:nvPr/>
        </p:nvSpPr>
        <p:spPr>
          <a:xfrm>
            <a:off x="5669280" y="3017520"/>
            <a:ext cx="32918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200"/>
              </a:spcAft>
            </a:pPr>
            <a:r>
              <a:rPr sz="15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Inventory Rescue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320040" y="1143000"/>
            <a:ext cx="8503920" cy="5029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300" b="0" i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“With ₹10 lakh available this month, what should we buy, expedite, discount or defer, and when?”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20040" y="1783080"/>
            <a:ext cx="2743200" cy="2697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320040" y="1892807"/>
            <a:ext cx="54864" cy="2478024"/>
          </a:xfrm>
          <a:prstGeom prst="roundRect">
            <a:avLst>
              <a:gd name="adj" fmla="val 50000"/>
            </a:avLst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056" y="1856231"/>
            <a:ext cx="2542032" cy="25694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problem</a:t>
            </a:r>
          </a:p>
          <a:p>
            <a:pPr marL="155448" indent="-137160">
              <a:spcAft>
                <a:spcPts val="300"/>
              </a:spcAft>
              <a:buClr>
                <a:srgbClr val="D93025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Mid-size and large D2C / FMCG brands (₹50 crore+ a year) still plan rescues on spreadsheets, email and WhatsApp.</a:t>
            </a:r>
          </a:p>
          <a:p>
            <a:pPr marL="155448" indent="-137160">
              <a:spcAft>
                <a:spcPts val="300"/>
              </a:spcAft>
              <a:buClr>
                <a:srgbClr val="D93025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Supplier delays, influencer-driven spikes and expiring lots arrive as unstructured messages.</a:t>
            </a:r>
          </a:p>
          <a:p>
            <a:pPr marL="155448" indent="-137160">
              <a:spcAft>
                <a:spcPts val="300"/>
              </a:spcAft>
              <a:buClr>
                <a:srgbClr val="D93025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Cash is tight, so hero SKUs stock out while slow movers expire and get written off.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200400" y="1783080"/>
            <a:ext cx="2743200" cy="2697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3200400" y="1892807"/>
            <a:ext cx="54864" cy="247802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328416" y="1856231"/>
            <a:ext cx="2542032" cy="25694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Our solution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Generative AI reads the messages (English, Hindi, Hinglish), turns text-only news into forecast adjustments and answers “why / what if” questions with planner tools.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deterministic simulator and optimiser decide quantities and money; every LLM output is validated.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operator confirms signals, picks when to spend and exports POs.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080759" y="1783080"/>
            <a:ext cx="2743200" cy="2697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6080759" y="1892807"/>
            <a:ext cx="54864" cy="247802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08775" y="1856231"/>
            <a:ext cx="2542032" cy="25694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outcome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ranked action list within budget, plus four ways to time the spend (commit now, staggered, reserve, lean).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Demo brand (₹4.3 crore revenue a month): </a:t>
            </a: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₹3.8 lakh / month</a:t>
            </a: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lower simulated loss than a static reorder rule and </a:t>
            </a: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₹1.8 lakh</a:t>
            </a: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than a tuned one, better in </a:t>
            </a: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120 of 120</a:t>
            </a: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simulated futures.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Keeping 30% in reserve for weekly reviews: a further </a:t>
            </a: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₹0.9–1.1 lakh</a:t>
            </a: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in 9–10 of 10 futures.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20040" y="4572000"/>
            <a:ext cx="850392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9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Target users: starting with supply-chain and operations teams of mid-size to large FMCG / D2C brands across JAPAC; the engine is product-agnostic.  All values are simulated on seeded data and will be validated in pilots.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320040" y="1188720"/>
            <a:ext cx="274320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320040" y="1298448"/>
            <a:ext cx="54864" cy="288950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48056" y="1261872"/>
            <a:ext cx="2542032" cy="29809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How is it different from existing ideas?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Inventory apps / ERPs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track stock but use static reorder points and stated lead times, and ignore supplier or campaign messages.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Enterprise demand planners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forecast well but take months to roll out and still ignore the inbox; the rescue decisions happen in spreadsheets.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Generic AI chatbots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give advice without arithmetic and can invent numbers.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Ours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pairs LLM understanding with budget-aware optimisation and a built-in proof of value.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200400" y="1188720"/>
            <a:ext cx="274320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3200400" y="1298448"/>
            <a:ext cx="54864" cy="288950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328416" y="1261872"/>
            <a:ext cx="2542032" cy="29809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How will it solve the problem?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Turns messages into typed events with verbatim evidence; a human confirms.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Hybrid forecasts: a statistical base, with the LLM tuning event effects that only exist as text.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Supplier delay history gives early / typical / late arrival cases.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Picks the best action mix under one cash budget, tests it on 120 simulated futures and shows when to spend.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080759" y="1188720"/>
            <a:ext cx="274320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6080759" y="1298448"/>
            <a:ext cx="54864" cy="2889504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08775" y="1261872"/>
            <a:ext cx="2542032" cy="29809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USP of the proposed solution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cash budget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across buy, expedite, markdown and defer, and over time (staggered buys).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Trust by design: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the LLM proposes, code validates; every number in an answer is checked.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Measured, not claimed: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extraction gold set, forecast backtest, Monte Carlo, rule baselines.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Built on Google Cloud: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Gemini on Vertex AI, Cloud Run, Firebase Hosting, Firestore, Cloud SQL.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20040" y="4389120"/>
            <a:ext cx="8503920" cy="5029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200"/>
              </a:spcAft>
            </a:pPr>
            <a:r>
              <a:rPr sz="9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Why now:</a:t>
            </a:r>
            <a:r>
              <a:rPr sz="9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LLMs can finally read messy supplier and campaign messages well enough, when wrapped in validation, to feed real planning maths, and run it on pay-per-use cloud for a fraction of what it saves.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320040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320040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411479" y="1371600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1520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Read a message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93192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Paste emails or WhatsApp notes (also Hindi/Hinglish); Gemini finds delays, spikes, drops and expiry with verbatim quotes. You say yes or no.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039112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2039112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2130552" y="1371600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450592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Hybrid forecasts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112264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Statistical base (Holt-Winters / Croston). The LLM tunes event effects within bounds, including news that exists only as text.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3758184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3758184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3849624" y="1371600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169664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Ask a question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831336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Ask “why” or “what if” in plain language. Gemini calls 11 read-only planner tools; every number is checked.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5477256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5477256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5568696" y="1371600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888736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Grounded explanations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550408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narrative and what-if parsing that may only use numbers and IDs from the plan; else a labelled template.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7196328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7196328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287768" y="1371600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607808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Supply &amp; service level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269480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Supplier delay cases (early / typical / late); hero SKUs carry a goodwill penalty per unit short.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320040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320040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411479" y="3154680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31520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Budgeted planner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93192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Buy, expedite, markdown (with cannibalisation) or defer; an exact knapsack picks the best set under the cash budget.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039112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2039112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2130552" y="3154680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7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450592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options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12264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Commit now, staggered buys, keep a reserve or lean, compared with weekly re-planning in calm and shocked futures.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3758184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3758184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3849624" y="3154680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169664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Robustness &amp; proof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831336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120 Monte Carlo futures vs static and tuned reorder rules; budget frontier; forecast backtest.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477256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5477256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5568696" y="3154680"/>
            <a:ext cx="274320" cy="274320"/>
          </a:xfrm>
          <a:prstGeom prst="ellipse">
            <a:avLst/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9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888736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Simple &amp; Advanced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550408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3D home page and three big buttons for anyone; the Advanced view adds charts, alerts, overrides and plan diffs.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7196328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7196328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7287768" y="3154680"/>
            <a:ext cx="274320" cy="274320"/>
          </a:xfrm>
          <a:prstGeom prst="ellipse">
            <a:avLst/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607808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Approve &amp; journal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269480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Approve to export PO and markdown CSVs; every message, decision, plan and question is journaled in Firestore.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20040" y="4754880"/>
            <a:ext cx="8503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Blue = generative AI · Green = deterministic engine · Orange = operator workflow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320040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 w="12700">
            <a:solidFill>
              <a:srgbClr val="2021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Ingest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Messages, sales CSV, POs, lots, receipts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20040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Size limits; a CSV is rejected if any row is invalid</a:t>
            </a:r>
          </a:p>
        </p:txBody>
      </p:sp>
      <p:sp>
        <p:nvSpPr>
          <p:cNvPr id="98" name="Right Arrow 97"/>
          <p:cNvSpPr/>
          <p:nvPr/>
        </p:nvSpPr>
        <p:spPr>
          <a:xfrm>
            <a:off x="1412748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1559052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Extract signals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LLM: delay · spike · drop · expiry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559052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Schema, known SKUs and verbatim-quote checks</a:t>
            </a:r>
          </a:p>
        </p:txBody>
      </p:sp>
      <p:sp>
        <p:nvSpPr>
          <p:cNvPr id="101" name="Right Arrow 100"/>
          <p:cNvSpPr/>
          <p:nvPr/>
        </p:nvSpPr>
        <p:spPr>
          <a:xfrm>
            <a:off x="2651760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2798064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12700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Human review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Confirm or reject each event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798064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Only confirmed events change forecasts</a:t>
            </a:r>
          </a:p>
        </p:txBody>
      </p:sp>
      <p:sp>
        <p:nvSpPr>
          <p:cNvPr id="104" name="Right Arrow 103"/>
          <p:cNvSpPr/>
          <p:nvPr/>
        </p:nvSpPr>
        <p:spPr>
          <a:xfrm>
            <a:off x="3890772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4037075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4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Statistical base; LLM tunes event effects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037075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Bounded multipliers with stated drivers; else statistical</a:t>
            </a:r>
          </a:p>
        </p:txBody>
      </p:sp>
      <p:sp>
        <p:nvSpPr>
          <p:cNvPr id="107" name="Right Arrow 106"/>
          <p:cNvSpPr/>
          <p:nvPr/>
        </p:nvSpPr>
        <p:spPr>
          <a:xfrm>
            <a:off x="5129783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5276088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1270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5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Simulate &amp; optimise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Knapsack under budget; 4 timing options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276088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Deterministic; the LLM never sets quantities</a:t>
            </a:r>
          </a:p>
        </p:txBody>
      </p:sp>
      <p:sp>
        <p:nvSpPr>
          <p:cNvPr id="110" name="Right Arrow 109"/>
          <p:cNvSpPr/>
          <p:nvPr/>
        </p:nvSpPr>
        <p:spPr>
          <a:xfrm>
            <a:off x="6368796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6515100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6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Explain &amp; stress-test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Cited narrative; 120 simulated futures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515100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Numbers and IDs must exist in the plan JSON</a:t>
            </a:r>
          </a:p>
        </p:txBody>
      </p:sp>
      <p:sp>
        <p:nvSpPr>
          <p:cNvPr id="113" name="Right Arrow 112"/>
          <p:cNvSpPr/>
          <p:nvPr/>
        </p:nvSpPr>
        <p:spPr>
          <a:xfrm>
            <a:off x="7607808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7754111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12700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7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Approve &amp; export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PO and markdown CSVs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754111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Every LLM call logged; each step journaled in Firestore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320040" y="3291840"/>
            <a:ext cx="201168" cy="146304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 w="952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66928" y="32278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Generative AI (validated)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468880" y="3291840"/>
            <a:ext cx="201168" cy="146304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 w="9525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715768" y="32278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Deterministic engine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4617720" y="3291840"/>
            <a:ext cx="201168" cy="146304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 w="9525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4864608" y="32278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Human in the loop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766560" y="3291840"/>
            <a:ext cx="201168" cy="146304"/>
          </a:xfrm>
          <a:prstGeom prst="roundRect">
            <a:avLst>
              <a:gd name="adj" fmla="val 20000"/>
            </a:avLst>
          </a:prstGeom>
          <a:solidFill>
            <a:srgbClr val="F1F3F4"/>
          </a:solidFill>
          <a:ln w="9525">
            <a:solidFill>
              <a:srgbClr val="2021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013448" y="32278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Data ingestion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320040" y="3611880"/>
            <a:ext cx="8503920" cy="54864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↻  Weekly reviews (days 0 / 7 / 14 / 21):</a:t>
            </a:r>
            <a:r>
              <a:rPr sz="10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realised sales re-forecast → remaining and scheduled cash re-planned → staggered tranches re-confirmed, resized or redirected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20040" y="4251960"/>
            <a:ext cx="8503920" cy="59436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Ask the assistant:</a:t>
            </a:r>
            <a:r>
              <a:rPr sz="10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“What if SUP-04 slips another week?” → the model calls read-only planner and simulator tools → answer with a tool trace; every number checked against tool results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 / mock diagrams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Rounded Rectangle 103"/>
          <p:cNvSpPr/>
          <p:nvPr/>
        </p:nvSpPr>
        <p:spPr>
          <a:xfrm>
            <a:off x="320040" y="1188720"/>
            <a:ext cx="1965960" cy="3063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320040" y="1188720"/>
            <a:ext cx="1965960" cy="22860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Home (3D landing)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11479" y="1490472"/>
            <a:ext cx="106984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6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Inventory Rescue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303019" y="1490472"/>
            <a:ext cx="8915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5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Advanced view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11479" y="1673352"/>
            <a:ext cx="1783080" cy="1417320"/>
          </a:xfrm>
          <a:prstGeom prst="roundRect">
            <a:avLst>
              <a:gd name="adj" fmla="val 4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66344" y="1746504"/>
            <a:ext cx="960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Rescue your stock</a:t>
            </a:r>
          </a:p>
          <a:p>
            <a:pPr>
              <a:spcAft>
                <a:spcPts val="200"/>
              </a:spcAft>
            </a:pPr>
            <a:r>
              <a:rPr sz="750" b="0" i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before it runs out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1399032" y="1901952"/>
            <a:ext cx="658368" cy="457200"/>
          </a:xfrm>
          <a:prstGeom prst="roundRect">
            <a:avLst>
              <a:gd name="adj" fmla="val 4000"/>
            </a:avLst>
          </a:prstGeom>
          <a:solidFill>
            <a:srgbClr val="E8EAED"/>
          </a:solidFill>
          <a:ln w="6350">
            <a:solidFill>
              <a:srgbClr val="9AA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1453895" y="1975104"/>
            <a:ext cx="146304" cy="310896"/>
          </a:xfrm>
          <a:prstGeom prst="roundRect">
            <a:avLst>
              <a:gd name="adj" fmla="val 4000"/>
            </a:avLst>
          </a:prstGeom>
          <a:solidFill>
            <a:srgbClr val="C5CA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1655063" y="1975104"/>
            <a:ext cx="146304" cy="310896"/>
          </a:xfrm>
          <a:prstGeom prst="roundRect">
            <a:avLst>
              <a:gd name="adj" fmla="val 4000"/>
            </a:avLst>
          </a:prstGeom>
          <a:solidFill>
            <a:srgbClr val="FBBC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1856231" y="1975104"/>
            <a:ext cx="146304" cy="310896"/>
          </a:xfrm>
          <a:prstGeom prst="roundRect">
            <a:avLst>
              <a:gd name="adj" fmla="val 4000"/>
            </a:avLst>
          </a:prstGeom>
          <a:solidFill>
            <a:srgbClr val="C5CA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399032" y="2377440"/>
            <a:ext cx="658368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5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3D warehouse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466344" y="2313432"/>
            <a:ext cx="896112" cy="155448"/>
          </a:xfrm>
          <a:prstGeom prst="roundRect">
            <a:avLst>
              <a:gd name="adj" fmla="val 50000"/>
            </a:avLst>
          </a:prstGeom>
          <a:solidFill>
            <a:srgbClr val="EA8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53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16 products need attention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466344" y="2587752"/>
            <a:ext cx="566928" cy="182880"/>
          </a:xfrm>
          <a:prstGeom prst="roundRect">
            <a:avLst>
              <a:gd name="adj" fmla="val 20000"/>
            </a:avLst>
          </a:prstGeom>
          <a:solidFill>
            <a:srgbClr val="1E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Make my plan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088136" y="2587752"/>
            <a:ext cx="77724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See how it works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66344" y="2843784"/>
            <a:ext cx="1783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5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See  ·  Spot  ·  Plan  ·  Deliver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11479" y="3182112"/>
            <a:ext cx="1783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What do you want to do?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411479" y="3392424"/>
            <a:ext cx="1783080" cy="228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6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Read a message</a:t>
            </a:r>
            <a:r>
              <a:rPr sz="6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·  supplier or sales note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411479" y="3657600"/>
            <a:ext cx="1783080" cy="228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6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Make my plan</a:t>
            </a:r>
            <a:r>
              <a:rPr sz="6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·  within your budget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411479" y="3922776"/>
            <a:ext cx="1783080" cy="228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6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Ask a question</a:t>
            </a:r>
            <a:r>
              <a:rPr sz="6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·  in your own words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20040" y="4279392"/>
            <a:ext cx="196596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1.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See what is at risk</a:t>
            </a:r>
          </a:p>
        </p:txBody>
      </p:sp>
      <p:sp>
        <p:nvSpPr>
          <p:cNvPr id="124" name="Right Arrow 123"/>
          <p:cNvSpPr/>
          <p:nvPr/>
        </p:nvSpPr>
        <p:spPr>
          <a:xfrm>
            <a:off x="2313432" y="2647188"/>
            <a:ext cx="155448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2499055" y="1188720"/>
            <a:ext cx="1965960" cy="3063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6" name="Rounded Rectangle 125"/>
          <p:cNvSpPr/>
          <p:nvPr/>
        </p:nvSpPr>
        <p:spPr>
          <a:xfrm>
            <a:off x="2499055" y="1188720"/>
            <a:ext cx="1965960" cy="22860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Read a message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590495" y="1490472"/>
            <a:ext cx="106984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6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Inventory Rescue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482035" y="1490472"/>
            <a:ext cx="8915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5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Advanced view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2590495" y="1673352"/>
            <a:ext cx="1783080" cy="384048"/>
          </a:xfrm>
          <a:prstGeom prst="roundRect">
            <a:avLst>
              <a:gd name="adj" fmla="val 6000"/>
            </a:avLst>
          </a:prstGeom>
          <a:solidFill>
            <a:srgbClr val="1E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Read a message</a:t>
            </a:r>
          </a:p>
          <a:p>
            <a:pPr algn="l">
              <a:spcAft>
                <a:spcPts val="200"/>
              </a:spcAft>
            </a:pPr>
            <a:r>
              <a:rPr sz="550" b="0" i="0">
                <a:solidFill>
                  <a:srgbClr val="C7D2F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Paste a note from a supplier or your sales team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2590495" y="2130552"/>
            <a:ext cx="1783080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55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“PO-2041 and PO-2042 will be delayed by 9 days due to a packaging shortage…”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2590495" y="2642616"/>
            <a:ext cx="77724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Show me an example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3916375" y="2642616"/>
            <a:ext cx="457200" cy="182880"/>
          </a:xfrm>
          <a:prstGeom prst="roundRect">
            <a:avLst>
              <a:gd name="adj" fmla="val 20000"/>
            </a:avLst>
          </a:prstGeom>
          <a:solidFill>
            <a:srgbClr val="1E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Read it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2590495" y="2916936"/>
            <a:ext cx="178308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2645359" y="2953512"/>
            <a:ext cx="16733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5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found 1 thing in this message</a:t>
            </a:r>
          </a:p>
          <a:p>
            <a:pPr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Makhana and Millet Chips will arrive about 9 days late.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2645359" y="3374136"/>
            <a:ext cx="1673352" cy="27432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200"/>
              </a:spcAft>
            </a:pPr>
            <a:r>
              <a:rPr sz="53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message said: “…will be delayed by 9 days.”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645359" y="3685032"/>
            <a:ext cx="73152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5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Is this right?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2645359" y="3849624"/>
            <a:ext cx="685800" cy="182880"/>
          </a:xfrm>
          <a:prstGeom prst="roundRect">
            <a:avLst>
              <a:gd name="adj" fmla="val 2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Yes, use this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3395167" y="3849624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✕ No, ignore it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499055" y="4279392"/>
            <a:ext cx="196596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2.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Confirm what Gemini read</a:t>
            </a:r>
          </a:p>
        </p:txBody>
      </p:sp>
      <p:sp>
        <p:nvSpPr>
          <p:cNvPr id="140" name="Right Arrow 139"/>
          <p:cNvSpPr/>
          <p:nvPr/>
        </p:nvSpPr>
        <p:spPr>
          <a:xfrm>
            <a:off x="4492447" y="2647188"/>
            <a:ext cx="155448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41" name="Rounded Rectangle 140"/>
          <p:cNvSpPr/>
          <p:nvPr/>
        </p:nvSpPr>
        <p:spPr>
          <a:xfrm>
            <a:off x="4678070" y="1188720"/>
            <a:ext cx="1965960" cy="3063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42" name="Rounded Rectangle 141"/>
          <p:cNvSpPr/>
          <p:nvPr/>
        </p:nvSpPr>
        <p:spPr>
          <a:xfrm>
            <a:off x="4678070" y="1188720"/>
            <a:ext cx="1965960" cy="22860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Make my plan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769510" y="1490472"/>
            <a:ext cx="106984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6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Inventory Rescue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5661050" y="1490472"/>
            <a:ext cx="8915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5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Advanced view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769510" y="1673352"/>
            <a:ext cx="1783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6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How much can you spend?</a:t>
            </a:r>
            <a:r>
              <a:rPr sz="6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₹ [25,00,000]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4769510" y="1874520"/>
            <a:ext cx="873252" cy="2377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200"/>
              </a:spcAft>
            </a:pPr>
            <a:r>
              <a:rPr sz="5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○ Buy it all now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5679338" y="1874520"/>
            <a:ext cx="873252" cy="2377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200"/>
              </a:spcAft>
            </a:pPr>
            <a:r>
              <a:rPr sz="5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○ Buy in two steps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4769510" y="2148840"/>
            <a:ext cx="873252" cy="237744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952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200"/>
              </a:spcAft>
            </a:pPr>
            <a:r>
              <a:rPr sz="5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◉ Keep money aside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5679338" y="2148840"/>
            <a:ext cx="873252" cy="2377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200"/>
              </a:spcAft>
            </a:pPr>
            <a:r>
              <a:rPr sz="5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○ Spend less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769510" y="2441448"/>
            <a:ext cx="17830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5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Keep aside: 30%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4769510" y="2606040"/>
            <a:ext cx="1783080" cy="45720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2" name="Rounded Rectangle 151"/>
          <p:cNvSpPr/>
          <p:nvPr/>
        </p:nvSpPr>
        <p:spPr>
          <a:xfrm>
            <a:off x="4769510" y="2606040"/>
            <a:ext cx="534924" cy="45720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4769510" y="2706624"/>
            <a:ext cx="1783080" cy="182880"/>
          </a:xfrm>
          <a:prstGeom prst="roundRect">
            <a:avLst>
              <a:gd name="adj" fmla="val 20000"/>
            </a:avLst>
          </a:prstGeom>
          <a:solidFill>
            <a:srgbClr val="1E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Make my plan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4769510" y="2971800"/>
            <a:ext cx="1783080" cy="457200"/>
          </a:xfrm>
          <a:prstGeom prst="roundRect">
            <a:avLst>
              <a:gd name="adj" fmla="val 5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0"/>
              </a:spcAft>
            </a:pPr>
            <a:r>
              <a:rPr sz="6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Spend ₹17,47,080</a:t>
            </a:r>
            <a:r>
              <a:rPr sz="6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of ₹25,00,000</a:t>
            </a:r>
          </a:p>
          <a:p>
            <a:pPr algn="l">
              <a:spcAft>
                <a:spcPts val="200"/>
              </a:spcAft>
            </a:pPr>
            <a:r>
              <a:rPr sz="530" b="0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Saves about ₹8.1 lakh vs reordering the usual way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769510" y="3474720"/>
            <a:ext cx="17830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6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Do these 8 things: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4769510" y="3639312"/>
            <a:ext cx="1783080" cy="182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5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Millet Muesli: buy 3,180   </a:t>
            </a:r>
            <a:r>
              <a:rPr sz="5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₹4,77,000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4769510" y="3849624"/>
            <a:ext cx="1783080" cy="182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5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Cider Gummies: buy 1,440   </a:t>
            </a:r>
            <a:r>
              <a:rPr sz="5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₹2,73,600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4769510" y="4078224"/>
            <a:ext cx="1783080" cy="182880"/>
          </a:xfrm>
          <a:prstGeom prst="roundRect">
            <a:avLst>
              <a:gd name="adj" fmla="val 2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Approve and get my lists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678070" y="4279392"/>
            <a:ext cx="196596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3.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Plan within budget, approve</a:t>
            </a:r>
          </a:p>
        </p:txBody>
      </p:sp>
      <p:sp>
        <p:nvSpPr>
          <p:cNvPr id="160" name="Right Arrow 159"/>
          <p:cNvSpPr/>
          <p:nvPr/>
        </p:nvSpPr>
        <p:spPr>
          <a:xfrm>
            <a:off x="6671462" y="2647188"/>
            <a:ext cx="155448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1" name="Rounded Rectangle 160"/>
          <p:cNvSpPr/>
          <p:nvPr/>
        </p:nvSpPr>
        <p:spPr>
          <a:xfrm>
            <a:off x="6857085" y="1188720"/>
            <a:ext cx="1965960" cy="3063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2" name="Rounded Rectangle 161"/>
          <p:cNvSpPr/>
          <p:nvPr/>
        </p:nvSpPr>
        <p:spPr>
          <a:xfrm>
            <a:off x="6857085" y="1188720"/>
            <a:ext cx="1965960" cy="22860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Ask a question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948525" y="1490472"/>
            <a:ext cx="106984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6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Inventory Rescue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7840065" y="1490472"/>
            <a:ext cx="8915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5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Advanced view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6948525" y="1673352"/>
            <a:ext cx="1783080" cy="384048"/>
          </a:xfrm>
          <a:prstGeom prst="roundRect">
            <a:avLst>
              <a:gd name="adj" fmla="val 6000"/>
            </a:avLst>
          </a:prstGeom>
          <a:solidFill>
            <a:srgbClr val="1E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Ask a question</a:t>
            </a:r>
          </a:p>
          <a:p>
            <a:pPr algn="l">
              <a:spcAft>
                <a:spcPts val="200"/>
              </a:spcAft>
            </a:pPr>
            <a:r>
              <a:rPr sz="550" b="0" i="0">
                <a:solidFill>
                  <a:srgbClr val="C7D2F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 your own words, like “What will run out first?”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7483449" y="2148840"/>
            <a:ext cx="1248156" cy="201168"/>
          </a:xfrm>
          <a:prstGeom prst="roundRect">
            <a:avLst>
              <a:gd name="adj" fmla="val 3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5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Which products will run out first?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6948525" y="2423160"/>
            <a:ext cx="178308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6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Protein Bar Peanut Choco runs out first, on 17 Oct.</a:t>
            </a:r>
          </a:p>
          <a:p>
            <a:pPr marL="155448" indent="-137160" algn="l">
              <a:spcAft>
                <a:spcPts val="200"/>
              </a:spcAft>
              <a:buChar char="•"/>
            </a:pPr>
            <a:r>
              <a:rPr sz="5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Short by about 3,460 units without a new order</a:t>
            </a:r>
          </a:p>
          <a:p>
            <a:pPr marL="155448" indent="-137160" algn="l">
              <a:spcAft>
                <a:spcPts val="200"/>
              </a:spcAft>
              <a:buChar char="•"/>
            </a:pPr>
            <a:r>
              <a:rPr sz="5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Makhana Peri Peri runs out on 18 Oct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6994245" y="3182112"/>
            <a:ext cx="960120" cy="14630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53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every number checked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7394295" y="3474720"/>
            <a:ext cx="1337310" cy="201168"/>
          </a:xfrm>
          <a:prstGeom prst="roundRect">
            <a:avLst>
              <a:gd name="adj" fmla="val 3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5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What changes if I spend only 8 lakh?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6948525" y="3749039"/>
            <a:ext cx="1783080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550" b="0" i="0">
                <a:solidFill>
                  <a:srgbClr val="9AA0A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Type your question here…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8320125" y="402336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1E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857085" y="4279392"/>
            <a:ext cx="196596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4.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Ask, with checked numbers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20040" y="4553712"/>
            <a:ext cx="85039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Simple view (default) shown. The Advanced view (Recovery Plan, Signal Inbox, SKU Detail, Scenario &amp; Value, Assistant, Activity journal) is one click away.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320040" y="1188720"/>
            <a:ext cx="1417320" cy="566928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9525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Ops manager / founder</a:t>
            </a:r>
          </a:p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browser</a:t>
            </a:r>
          </a:p>
        </p:txBody>
      </p:sp>
      <p:sp>
        <p:nvSpPr>
          <p:cNvPr id="113" name="Down Arrow 112"/>
          <p:cNvSpPr/>
          <p:nvPr/>
        </p:nvSpPr>
        <p:spPr>
          <a:xfrm>
            <a:off x="941832" y="1801368"/>
            <a:ext cx="182880" cy="256032"/>
          </a:xfrm>
          <a:prstGeom prst="down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320040" y="2103120"/>
            <a:ext cx="1417320" cy="274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021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React + TypeScript SPA</a:t>
            </a:r>
          </a:p>
          <a:p>
            <a:pPr algn="ctr">
              <a:spcAft>
                <a:spcPts val="6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Vite · Recharts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Simple view (3D landing)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Recovery Plan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Inbox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SKU Detail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Scenario &amp; Value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Assistant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Activity</a:t>
            </a:r>
          </a:p>
          <a:p>
            <a:pPr>
              <a:spcAft>
                <a:spcPts val="200"/>
              </a:spcAft>
            </a:pPr>
            <a:r>
              <a:rPr sz="4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</a:p>
          <a:p>
            <a:pPr>
              <a:spcAft>
                <a:spcPts val="200"/>
              </a:spcAft>
            </a:pPr>
            <a:r>
              <a:rPr sz="750" b="0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GCP: Firebase Hosting CDN, /api rewritten to Cloud Run</a:t>
            </a:r>
          </a:p>
        </p:txBody>
      </p:sp>
      <p:sp>
        <p:nvSpPr>
          <p:cNvPr id="115" name="Left-Right Arrow 114"/>
          <p:cNvSpPr/>
          <p:nvPr/>
        </p:nvSpPr>
        <p:spPr>
          <a:xfrm>
            <a:off x="1755648" y="3291840"/>
            <a:ext cx="246888" cy="146304"/>
          </a:xfrm>
          <a:prstGeom prst="left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700784" y="347472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REST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011680" y="1188720"/>
            <a:ext cx="4069080" cy="3657600"/>
          </a:xfrm>
          <a:prstGeom prst="roundRect">
            <a:avLst>
              <a:gd name="adj" fmla="val 3000"/>
            </a:avLst>
          </a:prstGeom>
          <a:solidFill>
            <a:srgbClr val="F8F9FA"/>
          </a:solidFill>
          <a:ln w="9525">
            <a:solidFill>
              <a:srgbClr val="9AA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103120" y="1216152"/>
            <a:ext cx="3886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FastAPI backend (Python 3.12)</a:t>
            </a: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 ·   GCP: Cloud Run + Secret Manager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103120" y="1481328"/>
            <a:ext cx="3886200" cy="2926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API routes · background jobs · alerts · audit log · activity journal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03120" y="1828800"/>
            <a:ext cx="3886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Deterministic decision engine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103120" y="20574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Hybrid forecasts (Holt-Winters / Croston)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3410711" y="20574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Simulator (FEFO lots, delay cases)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4718304" y="20574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Planner (multi-choice knapsack)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103120" y="25146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options &amp; weekly re-plan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410711" y="25146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Monte Carlo robustness &amp; baselines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718304" y="25146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Scenarios, frontier &amp; backtest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2103120" y="3044952"/>
            <a:ext cx="3886200" cy="1709928"/>
          </a:xfrm>
          <a:prstGeom prst="roundRect">
            <a:avLst>
              <a:gd name="adj" fmla="val 4000"/>
            </a:avLst>
          </a:prstGeom>
          <a:solidFill>
            <a:srgbClr val="E8F0FE"/>
          </a:solidFill>
          <a:ln w="952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2176272" y="3072384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"/>
              </a:spcAft>
            </a:pPr>
            <a:r>
              <a:rPr sz="8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Generative AI layer: Gemini API (AI Studio key) or Gemini on Vertex AI</a:t>
            </a:r>
          </a:p>
          <a:p>
            <a:pPr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JSON tasks with schema validation and one repair retry · tool-calling agent · cache · call log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2176272" y="3611880"/>
            <a:ext cx="182880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extraction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verbatim evidence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4069079" y="3611880"/>
            <a:ext cx="182880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 event tuning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bounded multipliers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2176272" y="4160520"/>
            <a:ext cx="182880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Planning assistant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11 tools, numbers checked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4069079" y="4160520"/>
            <a:ext cx="182880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Explanation &amp; what-if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 new numbers</a:t>
            </a:r>
          </a:p>
        </p:txBody>
      </p:sp>
      <p:sp>
        <p:nvSpPr>
          <p:cNvPr id="133" name="Left-Right Arrow 132"/>
          <p:cNvSpPr/>
          <p:nvPr/>
        </p:nvSpPr>
        <p:spPr>
          <a:xfrm>
            <a:off x="6099048" y="2990088"/>
            <a:ext cx="246888" cy="146304"/>
          </a:xfrm>
          <a:prstGeom prst="left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55080" y="1188720"/>
            <a:ext cx="2468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Adapters</a:t>
            </a: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(local  ➜  Google Cloud)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355080" y="1463040"/>
            <a:ext cx="2468880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LLM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API (AI Studio key)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Secret Manager key / Vertex AI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355080" y="2029968"/>
            <a:ext cx="2468880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Operational DB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SQLite file (no server)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SQL for PostgreSQL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355080" y="2596896"/>
            <a:ext cx="2468880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Files, uploads &amp; exports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local var/ folder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Storage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6355080" y="3163824"/>
            <a:ext cx="2468880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Activity journal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local JSONL file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Firestore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6355080" y="3730752"/>
            <a:ext cx="2468880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Hosting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uvicorn + Vite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Firebase Hosting + Cloud Run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355080" y="4297680"/>
            <a:ext cx="2468880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Build &amp; deploy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deploy.sh (gcloud CLI)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Build + Artifact Registry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20" name="Table 119"/>
          <p:cNvGraphicFramePr>
            <a:graphicFrameLocks noGrp="1"/>
          </p:cNvGraphicFramePr>
          <p:nvPr/>
        </p:nvGraphicFramePr>
        <p:xfrm>
          <a:off x="320040" y="1188720"/>
          <a:ext cx="85039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931920"/>
                <a:gridCol w="3108960"/>
              </a:tblGrid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Layer</a:t>
                      </a:r>
                    </a:p>
                  </a:txBody>
                  <a:tcPr marL="73152" marR="73152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Prototype (built and running)</a:t>
                      </a:r>
                    </a:p>
                  </a:txBody>
                  <a:tcPr marL="73152" marR="73152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Google Cloud (production)</a:t>
                      </a:r>
                    </a:p>
                  </a:txBody>
                  <a:tcPr marL="73152" marR="73152" anchor="ctr">
                    <a:solidFill>
                      <a:srgbClr val="20212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Frontend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React 19, TypeScript, Vite, Recharts, three.js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Firebase Hosting (CDN), /api rewritten to Cloud Run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Backend API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Python 3.12, FastAPI, Pydantic v2, SQLAlchemy 2, Uvicorn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Run, Secret Manager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Generative AI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google-genai, gemini-3.5-flash-lite via the Gemini API or Vertex AI; validated JSON tasks; tool-calling assistant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Gemini API (key in Secret Manager) or Gemini on Vertex AI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Decision engine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Holt-Winters and Croston/SBA in NumPy; stochastic simulator; exact knapsack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Same code in Cloud Run (CPU always allocated)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Data &amp; files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SQLite (no database server); local folder for uploads, exports, forecast cache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SQL for PostgreSQL, Cloud Storage, Firestore (activity journal)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Evaluation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Extraction gold set, rolling backtest, Monte Carlo, rule baselines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Same jobs; CSV exports ready for BigQuery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Quality &amp; delivery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pytest (162 tests), oxlint, strict TypeScript, LLM call log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Build → Artifact Registry → Cloud Run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28" name="Table 127"/>
          <p:cNvGraphicFramePr>
            <a:graphicFrameLocks noGrp="1"/>
          </p:cNvGraphicFramePr>
          <p:nvPr/>
        </p:nvGraphicFramePr>
        <p:xfrm>
          <a:off x="320040" y="1188720"/>
          <a:ext cx="53949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188720"/>
              </a:tblGrid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Component (one brand, production sizing)</a:t>
                      </a:r>
                    </a:p>
                  </a:txBody>
                  <a:tcPr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US$ / month</a:t>
                      </a:r>
                    </a:p>
                  </a:txBody>
                  <a:tcPr anchor="ctr">
                    <a:solidFill>
                      <a:srgbClr val="20212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Run: API + UI, 2 vCPU / 2 GiB, one always-on instance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90 – 105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SQL for PostgreSQL 16: db-g1-small, 10 GB</a:t>
                      </a:r>
                    </a:p>
                  </a:txBody>
                  <a:tcPr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25 – 40</a:t>
                      </a:r>
                    </a:p>
                  </a:txBody>
                  <a:tcPr anchor="ctr">
                    <a:solidFill>
                      <a:srgbClr val="F1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Gemini 3.5 Flash-Lite (Vertex AI): ~10M input + 1M output tokens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5 – 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Storage, Secret Manager, Artifact Registry, Cloud Build</a:t>
                      </a:r>
                    </a:p>
                  </a:txBody>
                  <a:tcPr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&lt; 3</a:t>
                      </a:r>
                    </a:p>
                  </a:txBody>
                  <a:tcPr anchor="ctr">
                    <a:solidFill>
                      <a:srgbClr val="F1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Firestore journal + Firebase Hosting (free tier at this volume)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&lt;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Total running cost, single tenant</a:t>
                      </a: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≈ 120 – 160</a:t>
                      </a: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Lean pilot: 1 vCPU / 1 GiB, background jobs on Cloud Tasks, scale to zero</a:t>
                      </a: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≈ 35 – 55</a:t>
                      </a: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</a:tr>
            </a:tbl>
          </a:graphicData>
        </a:graphic>
      </p:graphicFrame>
      <p:sp>
        <p:nvSpPr>
          <p:cNvPr id="129" name="TextBox 128"/>
          <p:cNvSpPr txBox="1"/>
          <p:nvPr/>
        </p:nvSpPr>
        <p:spPr>
          <a:xfrm>
            <a:off x="320040" y="4251960"/>
            <a:ext cx="5394960" cy="640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Indicative list prices (asia-south1); confirm with the Google Cloud Pricing Calculator. Excludes team effort. Cost does not grow with revenue: a 300-SKU catalogue adds roughly US$ 50–90 of Gemini calls a month on the same servers. Smaller brands can share one multi-tenant deployment.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897880" y="1188720"/>
            <a:ext cx="2926080" cy="17830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5897880" y="1298448"/>
            <a:ext cx="54864" cy="156362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6025896" y="1261872"/>
            <a:ext cx="2724912" cy="16550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Usage assumptions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Daily re-forecast of 30 SKUs (≈900 forecast calls a month).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≈300 plans, 600 messages and 1,000 assistant questions a month.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Measured LLM outputs are small: 0.2–2.3k characters per call.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5897880" y="3063240"/>
            <a:ext cx="292608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5897880" y="3172968"/>
            <a:ext cx="54864" cy="160934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025896" y="3136392"/>
            <a:ext cx="2724912" cy="17007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Cost vs value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Dedicated deployment ≈ ₹10.5k–14k a month (at ₹88 / US$).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Simulated loss avoided for the demo brand (₹4.3 crore revenue a month): ₹1.6–4.0 lakh a month.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≈ 11–38× the running cost. At a twentieth of this size (≈ ₹2.6 crore a year) a dedicated instance only breaks even, so small brands should share one.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crop_0_n_land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4256" y="1097280"/>
            <a:ext cx="2600960" cy="146304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524256" y="2587751"/>
            <a:ext cx="2600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1. Opens on a 3D warehouse: what is at risk, in one line.</a:t>
            </a:r>
          </a:p>
        </p:txBody>
      </p:sp>
      <p:pic>
        <p:nvPicPr>
          <p:cNvPr id="138" name="Picture 137" descr="crop_1_n_mess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71520" y="1097280"/>
            <a:ext cx="2600960" cy="146304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3271520" y="2587751"/>
            <a:ext cx="2600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2. Read a message: Gemini quotes the line it used; you say yes or no.</a:t>
            </a:r>
          </a:p>
        </p:txBody>
      </p:sp>
      <p:pic>
        <p:nvPicPr>
          <p:cNvPr id="140" name="Picture 139" descr="crop_2_n_choic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8784" y="1097280"/>
            <a:ext cx="2600960" cy="146304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1" name="TextBox 140"/>
          <p:cNvSpPr txBox="1"/>
          <p:nvPr/>
        </p:nvSpPr>
        <p:spPr>
          <a:xfrm>
            <a:off x="6018784" y="2587751"/>
            <a:ext cx="2600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3. Type a budget; choose how to buy and how much to keep aside.</a:t>
            </a:r>
          </a:p>
        </p:txBody>
      </p:sp>
      <p:pic>
        <p:nvPicPr>
          <p:cNvPr id="142" name="Picture 141" descr="crop_3_n_resul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4256" y="2871216"/>
            <a:ext cx="2600960" cy="146304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3" name="TextBox 142"/>
          <p:cNvSpPr txBox="1"/>
          <p:nvPr/>
        </p:nvSpPr>
        <p:spPr>
          <a:xfrm>
            <a:off x="524256" y="4361688"/>
            <a:ext cx="2600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4. A plain to-do list: what to buy, by when, and the saving.</a:t>
            </a:r>
          </a:p>
        </p:txBody>
      </p:sp>
      <p:pic>
        <p:nvPicPr>
          <p:cNvPr id="144" name="Picture 143" descr="crop_4_n_as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71520" y="2871216"/>
            <a:ext cx="2600960" cy="146304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5" name="TextBox 144"/>
          <p:cNvSpPr txBox="1"/>
          <p:nvPr/>
        </p:nvSpPr>
        <p:spPr>
          <a:xfrm>
            <a:off x="3271520" y="4361688"/>
            <a:ext cx="2600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5. Ask in your own words; Gemini answers from checked numbers.</a:t>
            </a:r>
          </a:p>
        </p:txBody>
      </p:sp>
      <p:pic>
        <p:nvPicPr>
          <p:cNvPr id="146" name="Picture 145" descr="crop_5_n_advanc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18784" y="2871216"/>
            <a:ext cx="2600960" cy="146304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7" name="TextBox 146"/>
          <p:cNvSpPr txBox="1"/>
          <p:nvPr/>
        </p:nvSpPr>
        <p:spPr>
          <a:xfrm>
            <a:off x="6018784" y="4361688"/>
            <a:ext cx="2600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6. Advanced view: every number in the plan, with its evidence.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20040" y="4681728"/>
            <a:ext cx="85039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Simple view is the default: a short 3D landing page, then three big buttons. Charts, robustness tests and scenarios stay one click away in the Advanced view.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 / 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44" name="Chart 143"/>
          <p:cNvGraphicFramePr>
            <a:graphicFrameLocks noGrp="1"/>
          </p:cNvGraphicFramePr>
          <p:nvPr/>
        </p:nvGraphicFramePr>
        <p:xfrm>
          <a:off x="274320" y="1143000"/>
          <a:ext cx="5257800" cy="3017520"/>
        </p:xfrm>
        <a:graphic>
          <a:graphicData uri="http://schemas.openxmlformats.org/drawingml/2006/chart">
            <c:chart r:id="rId5"/>
          </a:graphicData>
        </a:graphic>
      </p:graphicFrame>
      <p:sp>
        <p:nvSpPr>
          <p:cNvPr id="145" name="TextBox 144"/>
          <p:cNvSpPr txBox="1"/>
          <p:nvPr/>
        </p:nvSpPr>
        <p:spPr>
          <a:xfrm>
            <a:off x="320040" y="4206240"/>
            <a:ext cx="521208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Every policy starts from the same stock and budget and faces the same simulated demand and supplier delays. Fill rate 89.7% vs 88.6–88.8% for the rules; hero-SKU fill 80.3% vs 75.2%.</a:t>
            </a:r>
          </a:p>
          <a:p>
            <a:pPr>
              <a:spcAft>
                <a:spcPts val="200"/>
              </a:spcAft>
            </a:pPr>
            <a:r>
              <a:rPr sz="80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Engineering:</a:t>
            </a: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162 automated tests pass · 30 / 30 seed forecasts passed LLM validation · every LLM call logged with its status.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669280" y="1161288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5669280" y="1252728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5788152" y="1197864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₹3.8 lakh / ₹1.8 lakh a month lower loss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Mean vs static / tuned reorder rule; better in 120 of 120 futures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5669280" y="1911095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5669280" y="2002536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5788152" y="1947672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30% reserve: ₹0.9–1.1 lakh further gain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Re-planned at weekly reviews; better in 10 / 10 calm and 9 / 10 shocked futures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5669280" y="2660904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5669280" y="2752344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5788152" y="2697480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Extraction F1 0.97 vs 0.65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LLM + validators vs keyword rules, 40 labelled messages; plans from LLM signals keep 100% of the gold-signal gain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5669280" y="3410712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5669280" y="3502152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88152" y="3447288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 WAPE 21.5% vs 23.0%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Hybrid vs statistical, 1,050 points (22.2% vs 23.9% on 16 text-only series)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5669280" y="4160520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5669280" y="4251959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5788152" y="4197096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Assistant: 6 / 6 answers number-checked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5 on the first try, 1 after one repair; 3–10 s each (gemini-3.5-flash-lite)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 / 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320040" y="1188720"/>
            <a:ext cx="2743200" cy="3246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320040" y="1298448"/>
            <a:ext cx="54864" cy="3026663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48056" y="1261872"/>
            <a:ext cx="2542032" cy="3118103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Product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Multi-warehouse and channel allocation (marketplace vs D2C).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Email / WhatsApp connectors and auto-drafted supplier follow-ups.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SAP, Unicommerce and Shopify connectors for stock and POs.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for signal uncertainty: one misread day can move ₹1 lakh.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Learn event multipliers from realised outcomes.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3200400" y="1188720"/>
            <a:ext cx="2743200" cy="3246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3200400" y="1298448"/>
            <a:ext cx="54864" cy="3026663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3328416" y="1261872"/>
            <a:ext cx="2542032" cy="3118103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Platform on Google Cloud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Live today on Cloud Run, Cloud SQL, Firestore and Firebase Hosting; next: HA and per-tenant data.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Benchmark larger Gemini models on a paid key; route each task to its best model.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Background jobs on Cloud Tasks; multi-tenant auth via Identity Platform.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BigQuery ML forecasts as a second benchmark; Looker dashboards.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6080759" y="1188720"/>
            <a:ext cx="2743200" cy="3246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6080759" y="1298448"/>
            <a:ext cx="54864" cy="3026663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6208775" y="1261872"/>
            <a:ext cx="2542032" cy="3118103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Validation &amp; go-to-market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Pilot with 2–3 mid-size FMCG / D2C brands on their real data.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Measure realised savings against the simulated scorecard.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Grow the gold set with real, operator-labelled messages.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Pricing: subscription per SKU band, well below the savings.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Beyond FMCG:</a:t>
            </a: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pharma and cosmetics as-is; electronics, fashion and spare parts with expiry switched off.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320040" y="4526280"/>
            <a:ext cx="8503920" cy="38404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Responsible AI:</a:t>
            </a: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the LLM never sets quantities or money; every output is validated, labelled and logged, and signals need human confirmation.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Links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320040" y="1280160"/>
            <a:ext cx="85039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1" name="Rounded Rectangle 160"/>
          <p:cNvSpPr/>
          <p:nvPr/>
        </p:nvSpPr>
        <p:spPr>
          <a:xfrm>
            <a:off x="320040" y="1389888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502920" y="1325880"/>
            <a:ext cx="8229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GitHub public repository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https://github.com/Xhahat/inventory-rescue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20040" y="2148839"/>
            <a:ext cx="85039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320040" y="2258568"/>
            <a:ext cx="54864" cy="512064"/>
          </a:xfrm>
          <a:prstGeom prst="roundRect">
            <a:avLst>
              <a:gd name="adj" fmla="val 50000"/>
            </a:avLst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502920" y="2194559"/>
            <a:ext cx="8229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Demo video (3.5 minutes)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https://drive.google.com/file/d/1hqANKrCaGkMQFxnXu5LMdp8DBv_WMhHt/view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320040" y="3017520"/>
            <a:ext cx="85039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7" name="Rounded Rectangle 166"/>
          <p:cNvSpPr/>
          <p:nvPr/>
        </p:nvSpPr>
        <p:spPr>
          <a:xfrm>
            <a:off x="320040" y="3127248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502920" y="3063239"/>
            <a:ext cx="8229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Final product link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https://inventory-rescue-511705.web.app  ·  Firebase Hosting + Cloud Run (asia-south1)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Gemini in the loop: what gemini-3.5-flash-lite adds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67" name="Table 166"/>
          <p:cNvGraphicFramePr>
            <a:graphicFrameLocks noGrp="1"/>
          </p:cNvGraphicFramePr>
          <p:nvPr/>
        </p:nvGraphicFramePr>
        <p:xfrm>
          <a:off x="320040" y="1143000"/>
          <a:ext cx="85039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2331720"/>
                <a:gridCol w="1828800"/>
                <a:gridCol w="2103120"/>
              </a:tblGrid>
              <a:tr h="48768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Task</a:t>
                      </a:r>
                    </a:p>
                  </a:txBody>
                  <a:tcPr marL="64008" marR="64008" marT="27432" marB="27432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With Gemini</a:t>
                      </a:r>
                    </a:p>
                  </a:txBody>
                  <a:tcPr marL="64008" marR="64008" marT="27432" marB="27432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Without the LLM</a:t>
                      </a:r>
                    </a:p>
                  </a:txBody>
                  <a:tcPr marL="64008" marR="64008" marT="27432" marB="27432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Guardrail</a:t>
                      </a:r>
                    </a:p>
                  </a:txBody>
                  <a:tcPr marL="64008" marR="64008" marT="27432" marB="27432" anchor="ctr">
                    <a:solidFill>
                      <a:srgbClr val="202124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Read inbox messages into signals (40 labelled: email, WhatsApp, Hindi)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F1 0.97; 95% of messages fully correct; 0 invented events</a:t>
                      </a:r>
                    </a:p>
                  </a:txBody>
                  <a:tcPr marL="64008" marR="64008" marT="27432" marB="27432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Keyword rules: F1 0.65; 57.5% correct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Evidence quote must appear verbatim; SKU, date and quantity checked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Use those signals in a ₹10 lakh plan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 of the perfect-information gain (actual month and 40 worlds)</a:t>
                      </a:r>
                    </a:p>
                  </a:txBody>
                  <a:tcPr marL="64008" marR="64008" marT="27432" marB="27432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Hand-labelled signals = 100%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A person confirms each signal before it is used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Tune event effects in the forecast (25 SKUs, 1,050 points)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WAPE 21.5%; P10–P90 coverage 76%</a:t>
                      </a:r>
                    </a:p>
                  </a:txBody>
                  <a:tcPr marL="64008" marR="64008" marT="27432" marB="27432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Statistical 23.0% / 75%; seasonal naive 24.1%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75/75 outputs passed validation; else statistical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Events known only from text (16 series)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WAPE 22.2%</a:t>
                      </a:r>
                    </a:p>
                  </a:txBody>
                  <a:tcPr marL="64008" marR="64008" marT="27432" marB="27432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Statistical 23.9%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Same validators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Planning assistant with tool calls (6 questions)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6/6 answers number-checked (5 first try); median 4.0 s</a:t>
                      </a:r>
                    </a:p>
                  </a:txBody>
                  <a:tcPr marL="64008" marR="64008" marT="27432" marB="27432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Labelled summary of the tool results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Every number must come from a tool result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8" name="TextBox 167"/>
          <p:cNvSpPr txBox="1"/>
          <p:nvPr/>
        </p:nvSpPr>
        <p:spPr>
          <a:xfrm>
            <a:off x="320040" y="4160520"/>
            <a:ext cx="850392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Why gemini-3.5-flash-lite: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fast (median assistant answer 4.0 s, tool calls included), every output passes the validators, and it costs about US$ 5–10 a month at pilot volume. The live app calls it on Vertex AI; every call is logged with its status and a failed check falls back to a labelled non-LLM result.</a:t>
            </a:r>
          </a:p>
          <a:p>
            <a:pPr>
              <a:spcAft>
                <a:spcPts val="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Next: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these runs used the AI Studio free tier (20 requests a day, about 130 per run), so larger models such as gemini-3.8-flash are not yet measured; with Vertex AI quota we will compare them and route each task to its best model. Small sets: 40 messages, 75 forecasts, 6 questions, so gaps under about 0.5 pp WAPE are noise.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