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0" r:id="rId20"/>
    <p:sldId id="268" r:id="rId18"/>
    <p:sldId id="269" r:id="rId19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Simulated 30-day loss at a ₹10 lakh budget (₹ lakh, 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Static reorder rule</c:v>
                </c:pt>
              </c:strCache>
            </c:strRef>
          </c:tx>
          <c:spPr>
            <a:solidFill>
              <a:srgbClr val="BDC1C6"/>
            </a:solidFill>
          </c:spPr>
          <c:cat>
            <c:strRef>
              <c:f>Sheet1!$A$2:$A$3</c:f>
              <c:strCache>
                <c:ptCount val="2"/>
                <c:pt idx="0">
                  <c:v>Actual simulated month</c:v>
                </c:pt>
                <c:pt idx="1">
                  <c:v>Mean of 120 simulated futures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30.59</c:v>
                </c:pt>
                <c:pt idx="1">
                  <c:v>31.91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reorder rule</c:v>
                </c:pt>
              </c:strCache>
            </c:strRef>
          </c:tx>
          <c:spPr>
            <a:solidFill>
              <a:srgbClr val="9AA0A6"/>
            </a:solidFill>
          </c:spPr>
          <c:cat>
            <c:strRef>
              <c:f>Sheet1!$A$2:$A$3</c:f>
              <c:strCache>
                <c:ptCount val="2"/>
                <c:pt idx="0">
                  <c:v>Actual simulated month</c:v>
                </c:pt>
                <c:pt idx="1">
                  <c:v>Mean of 120 simulated futures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28.15</c:v>
                </c:pt>
                <c:pt idx="1">
                  <c:v>29.98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Inventory Rescue plan</c:v>
                </c:pt>
              </c:strCache>
            </c:strRef>
          </c:tx>
          <c:spPr>
            <a:solidFill>
              <a:srgbClr val="1A73E8"/>
            </a:solidFill>
          </c:spPr>
          <c:cat>
            <c:strRef>
              <c:f>Sheet1!$A$2:$A$3</c:f>
              <c:strCache>
                <c:ptCount val="2"/>
                <c:pt idx="0">
                  <c:v>Actual simulated month</c:v>
                </c:pt>
                <c:pt idx="1">
                  <c:v>Mean of 120 simulated futures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26.59</c:v>
                </c:pt>
                <c:pt idx="1">
                  <c:v>28.13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>
                  <a:latin typeface="Google Sans Flex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Google Sans Flex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.0"/>
          <c:min val="0.0"/>
        </c:scaling>
        <c:delete val="0"/>
        <c:axPos val="l"/>
        <c:majorGridlines>
          <c:spPr>
            <a:ln>
              <a:solidFill>
                <a:srgbClr val="E8EAE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>
              <a:latin typeface="Google Sans Flex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>
                <a:solidFill>
                  <a:srgbClr val="D9302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[Your team name]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>
                <a:solidFill>
                  <a:srgbClr val="D9302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[Team leader name]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3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Growing food &amp; nutrition brands lose lakhs a month to stockouts and expired stock because supplier delays and demand spikes arrive as unstructured messages, and limited cash forces hard buy / expedite / discount trade-offs.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5669280" y="301752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5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Inventory Rescue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320040" y="1143000"/>
            <a:ext cx="8503920" cy="5029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300" b="0" i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“With ₹10 lakh available this month, what should we buy, expedite, discount or defer, and when?”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20040" y="1783080"/>
            <a:ext cx="274320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20040" y="1892807"/>
            <a:ext cx="54864" cy="2478024"/>
          </a:xfrm>
          <a:prstGeom prst="roundRect">
            <a:avLst>
              <a:gd name="adj" fmla="val 50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8056" y="1856231"/>
            <a:ext cx="2542032" cy="2569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D9302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problem</a:t>
            </a:r>
          </a:p>
          <a:p>
            <a:pPr marL="155448" indent="-137160">
              <a:spcAft>
                <a:spcPts val="300"/>
              </a:spcAft>
              <a:buClr>
                <a:srgbClr val="D93025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Mid-size and large D2C / FMCG brands (₹50 crore+ a year) still plan rescues on spreadsheets, email and WhatsApp.</a:t>
            </a:r>
          </a:p>
          <a:p>
            <a:pPr marL="155448" indent="-137160">
              <a:spcAft>
                <a:spcPts val="300"/>
              </a:spcAft>
              <a:buClr>
                <a:srgbClr val="D93025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Supplier delays, influencer-driven spikes and expiring lots arrive as unstructured messages.</a:t>
            </a:r>
          </a:p>
          <a:p>
            <a:pPr marL="155448" indent="-137160">
              <a:spcAft>
                <a:spcPts val="300"/>
              </a:spcAft>
              <a:buClr>
                <a:srgbClr val="D93025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Cash is tight, so hero SKUs stock out while slow movers expire and get written off.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00400" y="1783080"/>
            <a:ext cx="274320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200400" y="1892807"/>
            <a:ext cx="54864" cy="2478024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328416" y="1856231"/>
            <a:ext cx="2542032" cy="2569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Our solution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Generative AI reads the messages (English, Hindi, Hinglish), turns text-only news into forecast adjustments and answers “why / what if” questions with planner tools.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deterministic simulator and optimiser decide quantities and money; every LLM output is validated.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operator confirms signals, picks when to spend and exports POs.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80759" y="1783080"/>
            <a:ext cx="274320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080759" y="1892807"/>
            <a:ext cx="54864" cy="2478024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08775" y="1856231"/>
            <a:ext cx="2542032" cy="2569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1E8E3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outcome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ranked action list within budget, plus four ways to time the spend (commit now, staggered, reserve, lean).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 brand (₹4.3 crore revenue a month): </a:t>
            </a:r>
            <a:r>
              <a:rPr sz="11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₹3.8 lakh / month</a:t>
            </a: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lower simulated loss than a static reorder rule and </a:t>
            </a:r>
            <a:r>
              <a:rPr sz="11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₹1.8 lakh</a:t>
            </a: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than a tuned one, better in </a:t>
            </a:r>
            <a:r>
              <a:rPr sz="11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120 of 120</a:t>
            </a: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simulated futures.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Keeping 30% in reserve for weekly reviews: a further </a:t>
            </a:r>
            <a:r>
              <a:rPr sz="11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₹0.9–1.1 lakh</a:t>
            </a: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in 9–10 of 10 futures.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Target users: supply-chain and operations teams of mid-size to large FMCG / D2C brands across JAPAC.  All values are simulated on seeded data and will be validated in pilots.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20040" y="1188720"/>
            <a:ext cx="274320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20040" y="1298448"/>
            <a:ext cx="54864" cy="2889504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8056" y="1261872"/>
            <a:ext cx="2542032" cy="2980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How is it different from existing ideas?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10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Inventory apps / ERPs</a:t>
            </a: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track stock but use static reorder points and stated lead times, and ignore supplier or campaign messages.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10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Enterprise demand planners</a:t>
            </a: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forecast well but take months to roll out and still ignore the inbox; the rescue decisions happen in spreadsheets.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10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Generic AI chatbots</a:t>
            </a: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give advice without arithmetic and can invent numbers.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10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Ours</a:t>
            </a: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pairs LLM understanding with budget-aware optimisation and a built-in proof of value.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200400" y="1188720"/>
            <a:ext cx="274320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200400" y="1298448"/>
            <a:ext cx="54864" cy="2889504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328416" y="1261872"/>
            <a:ext cx="2542032" cy="2980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E8E3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How will it solve the problem?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Turns messages into typed events with verbatim evidence; a human confirms.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Hybrid forecasts: a statistical base, with the LLM tuning event effects that only exist as text.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Supplier delay history gives early / typical / late arrival cases.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Picks the best action mix under one cash budget, tests it on 120 simulated futures and shows when to spend.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080759" y="1188720"/>
            <a:ext cx="274320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080759" y="1298448"/>
            <a:ext cx="54864" cy="2889504"/>
          </a:xfrm>
          <a:prstGeom prst="roundRect">
            <a:avLst>
              <a:gd name="adj" fmla="val 50000"/>
            </a:avLst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08775" y="1261872"/>
            <a:ext cx="2542032" cy="2980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</a:p>
          <a:p>
            <a:pPr marL="155448" indent="-137160">
              <a:spcAft>
                <a:spcPts val="300"/>
              </a:spcAft>
              <a:buClr>
                <a:srgbClr val="E37400"/>
              </a:buClr>
              <a:buChar char="•"/>
            </a:pPr>
            <a:r>
              <a:rPr sz="10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cash budget</a:t>
            </a: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across buy, expedite, markdown and defer, and over time (staggered buys).</a:t>
            </a:r>
          </a:p>
          <a:p>
            <a:pPr marL="155448" indent="-137160">
              <a:spcAft>
                <a:spcPts val="300"/>
              </a:spcAft>
              <a:buClr>
                <a:srgbClr val="E37400"/>
              </a:buClr>
              <a:buChar char="•"/>
            </a:pPr>
            <a:r>
              <a:rPr sz="10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Trust by design:</a:t>
            </a: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the LLM proposes, code validates; every number in an answer is checked.</a:t>
            </a:r>
          </a:p>
          <a:p>
            <a:pPr marL="155448" indent="-137160">
              <a:spcAft>
                <a:spcPts val="300"/>
              </a:spcAft>
              <a:buClr>
                <a:srgbClr val="E37400"/>
              </a:buClr>
              <a:buChar char="•"/>
            </a:pPr>
            <a:r>
              <a:rPr sz="10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Measured, not claimed:</a:t>
            </a: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extraction gold set, forecast backtest, Monte Carlo, 11-model comparison.</a:t>
            </a:r>
          </a:p>
          <a:p>
            <a:pPr marL="155448" indent="-137160">
              <a:spcAft>
                <a:spcPts val="300"/>
              </a:spcAft>
              <a:buClr>
                <a:srgbClr val="E37400"/>
              </a:buClr>
              <a:buChar char="•"/>
            </a:pPr>
            <a:r>
              <a:rPr sz="10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Built for Google Cloud:</a:t>
            </a: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Gemini API, Cloud Run, Cloud SQL, Cloud Storage.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0040" y="4389120"/>
            <a:ext cx="8503920" cy="5029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Why now:</a:t>
            </a: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LLMs can finally read messy supplier and campaign messages well enough, when wrapped in validation, to feed real planning maths, and run it on pay-per-use cloud for a fraction of what it saves.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20040" y="1188720"/>
            <a:ext cx="16276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20040" y="1188720"/>
            <a:ext cx="1627632" cy="6400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11479" y="13716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" y="132588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Signal Inbox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3192" y="1755648"/>
            <a:ext cx="1499616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Emails, WhatsApp notes, Hindi/Hinglish → typed delay, spike, drop and expiry events with verbatim quotes. A human confirms each one.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039112" y="1188720"/>
            <a:ext cx="16276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2039112" y="1188720"/>
            <a:ext cx="1627632" cy="6400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130552" y="13716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450592" y="132588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Hybrid forecasts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12264" y="1755648"/>
            <a:ext cx="1499616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Statistical base (Holt-Winters / Croston). The LLM tunes event effects within bounds, including news that exists only as text.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758184" y="1188720"/>
            <a:ext cx="16276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3758184" y="1188720"/>
            <a:ext cx="1627632" cy="6400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849624" y="13716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69664" y="132588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Planning assistant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31336" y="1755648"/>
            <a:ext cx="1499616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Ask “why” or “what if” in plain language. The model calls 10 read-only planner tools; every number is checked.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477256" y="1188720"/>
            <a:ext cx="16276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477256" y="1188720"/>
            <a:ext cx="1627632" cy="6400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568696" y="13716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888736" y="132588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Grounded explanations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550408" y="1755648"/>
            <a:ext cx="1499616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 narrative and what-if parsing that may only use numbers and IDs from the plan; else a labelled template.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196328" y="1188720"/>
            <a:ext cx="16276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7196328" y="1188720"/>
            <a:ext cx="1627632" cy="64008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287768" y="1371600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07808" y="132588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Supply &amp; service level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269480" y="1755648"/>
            <a:ext cx="1499616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Supplier delay cases (early / typical / late); hero SKUs carry a goodwill penalty per unit short.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20040" y="2971800"/>
            <a:ext cx="16276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320040" y="2971800"/>
            <a:ext cx="1627632" cy="64008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11479" y="3154680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31520" y="310896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Budgeted planner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93192" y="3538728"/>
            <a:ext cx="1499616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Buy, expedite, markdown (with cannibalisation) or defer; an exact knapsack picks the best set under the cash budget.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039112" y="2971800"/>
            <a:ext cx="16276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2039112" y="2971800"/>
            <a:ext cx="1627632" cy="64008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130552" y="3154680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450592" y="310896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 options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12264" y="3538728"/>
            <a:ext cx="1499616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Commit now, staggered buys, keep a reserve or lean, compared with weekly re-planning in calm and shocked futures.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758184" y="2971800"/>
            <a:ext cx="16276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3758184" y="2971800"/>
            <a:ext cx="1627632" cy="64008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849624" y="3154680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169664" y="310896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Robustness &amp; proof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31336" y="3538728"/>
            <a:ext cx="1499616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120 Monte Carlo futures vs static and tuned reorder rules; budget frontier; forecast backtest.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477256" y="2971800"/>
            <a:ext cx="16276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5477256" y="2971800"/>
            <a:ext cx="1627632" cy="64008"/>
          </a:xfrm>
          <a:prstGeom prst="roundRect">
            <a:avLst>
              <a:gd name="adj" fmla="val 50000"/>
            </a:avLst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568696" y="3154680"/>
            <a:ext cx="274320" cy="274320"/>
          </a:xfrm>
          <a:prstGeom prst="ellipse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888736" y="310896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Overrides &amp; plan diff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550408" y="3538728"/>
            <a:ext cx="1499616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Edit quantities or skip lines; the plan is re-scored within budget and each re-plan lists what changed.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196328" y="2971800"/>
            <a:ext cx="162763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7196328" y="2971800"/>
            <a:ext cx="1627632" cy="64008"/>
          </a:xfrm>
          <a:prstGeom prst="roundRect">
            <a:avLst>
              <a:gd name="adj" fmla="val 50000"/>
            </a:avLst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287768" y="3154680"/>
            <a:ext cx="274320" cy="274320"/>
          </a:xfrm>
          <a:prstGeom prst="ellipse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607808" y="310896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Approve &amp; export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269480" y="3538728"/>
            <a:ext cx="1499616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Alerts for stockout, expiry, overstock and suppliers; approve to export PO and markdown CSVs.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0040" y="4754880"/>
            <a:ext cx="8503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Blue = generative AI · Green = deterministic engine · Orange = operator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20040" y="1188720"/>
            <a:ext cx="1069848" cy="11887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2700">
            <a:solidFill>
              <a:srgbClr val="202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r>
          </a:p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Ingest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Messages, sales CSV, POs, lots, receipts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0040" y="2450592"/>
            <a:ext cx="106984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 Size limits; a CSV is rejected if any row is invalid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1412748" y="1691640"/>
            <a:ext cx="123444" cy="182880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559052" y="1188720"/>
            <a:ext cx="1069848" cy="11887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</a:t>
            </a:r>
          </a:p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Extract signals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LLM: delay · spike · drop · expiry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59052" y="2450592"/>
            <a:ext cx="106984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 Schema, known SKUs and verbatim-quote checks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2651760" y="1691640"/>
            <a:ext cx="123444" cy="182880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2798064" y="1188720"/>
            <a:ext cx="1069848" cy="118872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</a:t>
            </a:r>
          </a:p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Human review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Confirm or reject each event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98064" y="2450592"/>
            <a:ext cx="106984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 Only confirmed events change forecasts</a:t>
            </a:r>
          </a:p>
        </p:txBody>
      </p:sp>
      <p:sp>
        <p:nvSpPr>
          <p:cNvPr id="104" name="Right Arrow 103"/>
          <p:cNvSpPr/>
          <p:nvPr/>
        </p:nvSpPr>
        <p:spPr>
          <a:xfrm>
            <a:off x="3890772" y="1691640"/>
            <a:ext cx="123444" cy="182880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037075" y="1188720"/>
            <a:ext cx="1069848" cy="11887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</a:t>
            </a:r>
          </a:p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Forecast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Statistical base; LLM tunes event effects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37075" y="2450592"/>
            <a:ext cx="106984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 Bounded multipliers with stated drivers; else statistical</a:t>
            </a:r>
          </a:p>
        </p:txBody>
      </p:sp>
      <p:sp>
        <p:nvSpPr>
          <p:cNvPr id="107" name="Right Arrow 106"/>
          <p:cNvSpPr/>
          <p:nvPr/>
        </p:nvSpPr>
        <p:spPr>
          <a:xfrm>
            <a:off x="5129783" y="1691640"/>
            <a:ext cx="123444" cy="182880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5276088" y="1188720"/>
            <a:ext cx="1069848" cy="118872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1E8E3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</a:t>
            </a:r>
          </a:p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Simulate &amp; optimise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Knapsack under budget; 4 timing options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76088" y="2450592"/>
            <a:ext cx="106984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 Deterministic; the LLM never sets quantities</a:t>
            </a:r>
          </a:p>
        </p:txBody>
      </p:sp>
      <p:sp>
        <p:nvSpPr>
          <p:cNvPr id="110" name="Right Arrow 109"/>
          <p:cNvSpPr/>
          <p:nvPr/>
        </p:nvSpPr>
        <p:spPr>
          <a:xfrm>
            <a:off x="6368796" y="1691640"/>
            <a:ext cx="123444" cy="182880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6515100" y="1188720"/>
            <a:ext cx="1069848" cy="11887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6</a:t>
            </a:r>
          </a:p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Explain &amp; stress-test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Cited narrative; 120 simulated futures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15100" y="2450592"/>
            <a:ext cx="106984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 Numbers and IDs must exist in the plan JSON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7607808" y="1691640"/>
            <a:ext cx="123444" cy="182880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7754111" y="1188720"/>
            <a:ext cx="1069848" cy="118872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7</a:t>
            </a:r>
          </a:p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Approve &amp; export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 and markdown CSVs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754111" y="2450592"/>
            <a:ext cx="1069848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 Every LLM call is logged with an input hash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20040" y="3291840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952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66928" y="3227832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Generative AI (validated)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468880" y="3291840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E6F4EA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715768" y="3227832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Deterministic engine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617720" y="3291840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FEF7E0"/>
          </a:solidFill>
          <a:ln w="9525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864608" y="3227832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Human in the loop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766560" y="3291840"/>
            <a:ext cx="201168" cy="146304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 w="9525">
            <a:solidFill>
              <a:srgbClr val="202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013448" y="3227832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Data ingestion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0040" y="3611880"/>
            <a:ext cx="8503920" cy="5486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↻  Weekly reviews (days 0 / 7 / 14 / 21):</a:t>
            </a:r>
            <a:r>
              <a:rPr sz="10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realised sales re-forecast → remaining and scheduled cash re-planned → staggered tranches re-confirmed, resized or redirected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20040" y="4251960"/>
            <a:ext cx="8503920" cy="59436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Ask the assistant:</a:t>
            </a:r>
            <a:r>
              <a:rPr sz="10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“What if SUP-04 slips another week?” → the model calls read-only planner and simulator tools → answer with a tool trace; every number checked against tool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 / mock diagrams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320040" y="1188720"/>
            <a:ext cx="1965960" cy="306324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320040" y="1188720"/>
            <a:ext cx="1965960" cy="2286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Recovery Plan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479" y="1508760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7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Budget ₹ [10,00,000]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691639" y="15087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Re-plan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11479" y="1783080"/>
            <a:ext cx="40005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Cash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57250" y="1783080"/>
            <a:ext cx="40005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Loss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303019" y="1783080"/>
            <a:ext cx="400050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Savings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748789" y="1783080"/>
            <a:ext cx="40005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Risk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11479" y="224028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Why this plan  ✓ LLM (validated)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66344" y="2487168"/>
            <a:ext cx="1673352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466344" y="2606039"/>
            <a:ext cx="1673352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466344" y="2724911"/>
            <a:ext cx="1673352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466344" y="2843784"/>
            <a:ext cx="1399032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11479" y="3081528"/>
            <a:ext cx="1783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6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Ranked actions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11479" y="3337560"/>
            <a:ext cx="45720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960119" y="3291840"/>
            <a:ext cx="411480" cy="128016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5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buy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463039" y="3337560"/>
            <a:ext cx="73152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411479" y="3511296"/>
            <a:ext cx="45720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960119" y="3465576"/>
            <a:ext cx="411480" cy="128016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5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buy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463039" y="3511296"/>
            <a:ext cx="73152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411479" y="3685032"/>
            <a:ext cx="45720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960119" y="3639312"/>
            <a:ext cx="411480" cy="128016"/>
          </a:xfrm>
          <a:prstGeom prst="roundRect">
            <a:avLst>
              <a:gd name="adj" fmla="val 50000"/>
            </a:avLst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5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markdown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463039" y="3685032"/>
            <a:ext cx="73152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411479" y="3858768"/>
            <a:ext cx="45720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960119" y="3813048"/>
            <a:ext cx="411480" cy="128016"/>
          </a:xfrm>
          <a:prstGeom prst="roundRect">
            <a:avLst>
              <a:gd name="adj" fmla="val 50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5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defer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463039" y="3858768"/>
            <a:ext cx="73152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1280160" y="403250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Approve &amp; export CSVs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20040" y="4279392"/>
            <a:ext cx="19659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1.</a:t>
            </a: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Decide &amp; approve</a:t>
            </a:r>
          </a:p>
        </p:txBody>
      </p:sp>
      <p:sp>
        <p:nvSpPr>
          <p:cNvPr id="132" name="Right Arrow 131"/>
          <p:cNvSpPr/>
          <p:nvPr/>
        </p:nvSpPr>
        <p:spPr>
          <a:xfrm>
            <a:off x="2313432" y="2647188"/>
            <a:ext cx="155448" cy="14630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2499055" y="1188720"/>
            <a:ext cx="1965960" cy="306324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2499055" y="1188720"/>
            <a:ext cx="1965960" cy="2286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Signal Inbox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590495" y="1508760"/>
            <a:ext cx="4114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delay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047695" y="1508760"/>
            <a:ext cx="4114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spike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504895" y="1508760"/>
            <a:ext cx="4114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expiry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590495" y="1764792"/>
            <a:ext cx="178308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9AA0A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Paste supplier / campaign message…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590495" y="2423160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Extract signals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590495" y="2715768"/>
            <a:ext cx="178308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6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EV-2  Demand spike ×3</a:t>
            </a:r>
          </a:p>
          <a:p>
            <a:pPr algn="l">
              <a:spcAft>
                <a:spcPts val="200"/>
              </a:spcAft>
            </a:pPr>
            <a:r>
              <a:rPr sz="60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“…expect roughly 3x demand…”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636215" y="3127248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Confirm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139135" y="3127248"/>
            <a:ext cx="4114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Reject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590495" y="3429000"/>
            <a:ext cx="178308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200"/>
              </a:spcAft>
            </a:pPr>
            <a:r>
              <a:rPr sz="6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EV-1  Supplier delay +9 d</a:t>
            </a:r>
          </a:p>
          <a:p>
            <a:pPr algn="l">
              <a:spcAft>
                <a:spcPts val="200"/>
              </a:spcAft>
            </a:pPr>
            <a:r>
              <a:rPr sz="600" b="0" i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“…will be delayed by 9 days.”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636215" y="3840480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Confirm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139135" y="3840480"/>
            <a:ext cx="4114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Reject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99055" y="4279392"/>
            <a:ext cx="19659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2.</a:t>
            </a: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Capture signals</a:t>
            </a:r>
          </a:p>
        </p:txBody>
      </p:sp>
      <p:sp>
        <p:nvSpPr>
          <p:cNvPr id="147" name="Right Arrow 146"/>
          <p:cNvSpPr/>
          <p:nvPr/>
        </p:nvSpPr>
        <p:spPr>
          <a:xfrm>
            <a:off x="4492447" y="2647188"/>
            <a:ext cx="155448" cy="14630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4678070" y="1188720"/>
            <a:ext cx="1965960" cy="306324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4678070" y="1188720"/>
            <a:ext cx="1965960" cy="2286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SKU Detail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769510" y="1508760"/>
            <a:ext cx="1783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7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SKU-019 · Peanut Butter 1kg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769510" y="1737360"/>
            <a:ext cx="178308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5875019" y="1920240"/>
            <a:ext cx="534924" cy="77724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4842662" y="2468880"/>
            <a:ext cx="91440" cy="274320"/>
          </a:xfrm>
          <a:prstGeom prst="roundRect">
            <a:avLst>
              <a:gd name="adj" fmla="val 10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5025542" y="2331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5208422" y="2514600"/>
            <a:ext cx="91440" cy="228600"/>
          </a:xfrm>
          <a:prstGeom prst="roundRect">
            <a:avLst>
              <a:gd name="adj" fmla="val 10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5391302" y="2286000"/>
            <a:ext cx="91440" cy="457200"/>
          </a:xfrm>
          <a:prstGeom prst="roundRect">
            <a:avLst>
              <a:gd name="adj" fmla="val 10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5574182" y="2423160"/>
            <a:ext cx="91440" cy="320040"/>
          </a:xfrm>
          <a:prstGeom prst="roundRect">
            <a:avLst>
              <a:gd name="adj" fmla="val 10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5757062" y="2377440"/>
            <a:ext cx="91440" cy="365760"/>
          </a:xfrm>
          <a:prstGeom prst="roundRect">
            <a:avLst>
              <a:gd name="adj" fmla="val 10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839358" y="1755648"/>
            <a:ext cx="7132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550" b="0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forecast band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769510" y="2898648"/>
            <a:ext cx="1783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6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Forecast drivers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769510" y="3118104"/>
            <a:ext cx="178308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4769510" y="3227832"/>
            <a:ext cx="155448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4769510" y="3337560"/>
            <a:ext cx="132588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4769510" y="3520440"/>
            <a:ext cx="864108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Lots &amp; expiry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688482" y="3520440"/>
            <a:ext cx="864108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Supplier metrics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78070" y="4279392"/>
            <a:ext cx="19659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3.</a:t>
            </a: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Inspect a SKU</a:t>
            </a:r>
          </a:p>
        </p:txBody>
      </p:sp>
      <p:sp>
        <p:nvSpPr>
          <p:cNvPr id="167" name="Right Arrow 166"/>
          <p:cNvSpPr/>
          <p:nvPr/>
        </p:nvSpPr>
        <p:spPr>
          <a:xfrm>
            <a:off x="6671462" y="2647188"/>
            <a:ext cx="155448" cy="14630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6857085" y="1188720"/>
            <a:ext cx="1965960" cy="306324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6857085" y="1188720"/>
            <a:ext cx="1965960" cy="2286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Scenario &amp; Value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948525" y="1508760"/>
            <a:ext cx="1325880" cy="182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What if SUP-04 delays 7 days?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320125" y="1508760"/>
            <a:ext cx="411480" cy="18288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Run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948525" y="1783080"/>
            <a:ext cx="8641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Current plan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7867497" y="1783080"/>
            <a:ext cx="8641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Adapted plan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6948525" y="2331720"/>
            <a:ext cx="17830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Scorecard vs baseline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7222845" y="2606039"/>
            <a:ext cx="411480" cy="640080"/>
          </a:xfrm>
          <a:prstGeom prst="roundRect">
            <a:avLst>
              <a:gd name="adj" fmla="val 3000"/>
            </a:avLst>
          </a:prstGeom>
          <a:solidFill>
            <a:srgbClr val="F2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7954365" y="2807208"/>
            <a:ext cx="411480" cy="438912"/>
          </a:xfrm>
          <a:prstGeom prst="roundRect">
            <a:avLst>
              <a:gd name="adj" fmla="val 3000"/>
            </a:avLst>
          </a:prstGeom>
          <a:solidFill>
            <a:srgbClr val="81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948525" y="3410712"/>
            <a:ext cx="1783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6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Sensitivity · Backtest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948525" y="3639312"/>
            <a:ext cx="178308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6948525" y="3758184"/>
            <a:ext cx="150876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6948525" y="3877056"/>
            <a:ext cx="1234440" cy="41148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7954365" y="4032504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Run backtest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857085" y="4279392"/>
            <a:ext cx="19659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4.</a:t>
            </a: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Stress-test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20040" y="1188720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9525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Ops manager / founder</a:t>
            </a:r>
          </a:p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browser</a:t>
            </a:r>
          </a:p>
        </p:txBody>
      </p:sp>
      <p:sp>
        <p:nvSpPr>
          <p:cNvPr id="113" name="Down Arrow 112"/>
          <p:cNvSpPr/>
          <p:nvPr/>
        </p:nvSpPr>
        <p:spPr>
          <a:xfrm>
            <a:off x="941832" y="1801368"/>
            <a:ext cx="182880" cy="256032"/>
          </a:xfrm>
          <a:prstGeom prst="down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320040" y="2103120"/>
            <a:ext cx="1417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02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React + TypeScript SPA</a:t>
            </a:r>
          </a:p>
          <a:p>
            <a:pPr algn="ctr">
              <a:spcAft>
                <a:spcPts val="6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Vite · Recharts</a:t>
            </a:r>
          </a:p>
          <a:p>
            <a:pPr marL="155448" indent="-137160" algn="l">
              <a:spcAft>
                <a:spcPts val="300"/>
              </a:spcAft>
              <a:buChar char="•"/>
            </a:pPr>
            <a:r>
              <a:rPr sz="8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Recovery Plan</a:t>
            </a:r>
          </a:p>
          <a:p>
            <a:pPr marL="155448" indent="-137160" algn="l">
              <a:spcAft>
                <a:spcPts val="300"/>
              </a:spcAft>
              <a:buChar char="•"/>
            </a:pPr>
            <a:r>
              <a:rPr sz="8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Signal Inbox</a:t>
            </a:r>
          </a:p>
          <a:p>
            <a:pPr marL="155448" indent="-137160" algn="l">
              <a:spcAft>
                <a:spcPts val="300"/>
              </a:spcAft>
              <a:buChar char="•"/>
            </a:pPr>
            <a:r>
              <a:rPr sz="8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SKU Detail</a:t>
            </a:r>
          </a:p>
          <a:p>
            <a:pPr marL="155448" indent="-137160" algn="l">
              <a:spcAft>
                <a:spcPts val="300"/>
              </a:spcAft>
              <a:buChar char="•"/>
            </a:pPr>
            <a:r>
              <a:rPr sz="8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Scenario &amp; Value</a:t>
            </a:r>
          </a:p>
          <a:p>
            <a:pPr marL="155448" indent="-137160" algn="l">
              <a:spcAft>
                <a:spcPts val="300"/>
              </a:spcAft>
              <a:buChar char="•"/>
            </a:pPr>
            <a:r>
              <a:rPr sz="8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Assistant</a:t>
            </a:r>
          </a:p>
          <a:p>
            <a:pPr>
              <a:spcAft>
                <a:spcPts val="200"/>
              </a:spcAft>
            </a:pPr>
            <a:r>
              <a:rPr sz="4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  <a:p>
            <a:pPr>
              <a:spcAft>
                <a:spcPts val="200"/>
              </a:spcAft>
            </a:pPr>
            <a:r>
              <a:rPr sz="750" b="0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GCP: served by the same Cloud Run service</a:t>
            </a:r>
          </a:p>
        </p:txBody>
      </p:sp>
      <p:sp>
        <p:nvSpPr>
          <p:cNvPr id="115" name="Left-Right Arrow 114"/>
          <p:cNvSpPr/>
          <p:nvPr/>
        </p:nvSpPr>
        <p:spPr>
          <a:xfrm>
            <a:off x="1755648" y="3291840"/>
            <a:ext cx="246888" cy="146304"/>
          </a:xfrm>
          <a:prstGeom prst="left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700784" y="34747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REST JSON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011680" y="1188720"/>
            <a:ext cx="4069080" cy="36576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03120" y="1216152"/>
            <a:ext cx="3886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FastAPI backend (Python 3.12)</a:t>
            </a: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 ·   GCP: Cloud Run + Secret Manager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103120" y="1481328"/>
            <a:ext cx="3886200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API routes · background jobs (job table) · alerts · audit log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03120" y="1828800"/>
            <a:ext cx="3886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E8E3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Deterministic decision engine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103120" y="2057400"/>
            <a:ext cx="1252728" cy="393192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Hybrid forecasts (Holt-Winters / Croston)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410711" y="2057400"/>
            <a:ext cx="1252728" cy="393192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Simulator (FEFO lots, delay cases)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718304" y="2057400"/>
            <a:ext cx="1252728" cy="393192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Planner (multi-choice knapsack)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103120" y="2514600"/>
            <a:ext cx="1252728" cy="393192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 options &amp; weekly re-plan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410711" y="2514600"/>
            <a:ext cx="1252728" cy="393192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Monte Carlo robustness &amp; baselines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718304" y="2514600"/>
            <a:ext cx="1252728" cy="393192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Scenarios, frontier &amp; backtest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103120" y="3044952"/>
            <a:ext cx="3886200" cy="1709928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 w="952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176272" y="3072384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Generative AI layer: Gemini API (AI Studio key) or Gemini on Vertex AI</a:t>
            </a:r>
          </a:p>
          <a:p>
            <a:pPr>
              <a:spcAft>
                <a:spcPts val="200"/>
              </a:spcAft>
            </a:pPr>
            <a:r>
              <a:rPr sz="7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JSON tasks with schema validation and one repair retry · tool-calling agent · cache · call log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176272" y="3611880"/>
            <a:ext cx="18288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Signal extraction</a:t>
            </a:r>
          </a:p>
          <a:p>
            <a:pPr algn="ctr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verbatim evidence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069079" y="3611880"/>
            <a:ext cx="18288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Forecast event tuning</a:t>
            </a:r>
          </a:p>
          <a:p>
            <a:pPr algn="ctr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bounded multipliers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176272" y="4160520"/>
            <a:ext cx="18288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Planning assistant</a:t>
            </a:r>
          </a:p>
          <a:p>
            <a:pPr algn="ctr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10 tools, numbers checked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069079" y="4160520"/>
            <a:ext cx="18288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Explanation &amp; what-if</a:t>
            </a:r>
          </a:p>
          <a:p>
            <a:pPr algn="ctr">
              <a:spcAft>
                <a:spcPts val="200"/>
              </a:spcAft>
            </a:pPr>
            <a:r>
              <a:rPr sz="7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new numbers</a:t>
            </a:r>
          </a:p>
        </p:txBody>
      </p:sp>
      <p:sp>
        <p:nvSpPr>
          <p:cNvPr id="133" name="Left-Right Arrow 132"/>
          <p:cNvSpPr/>
          <p:nvPr/>
        </p:nvSpPr>
        <p:spPr>
          <a:xfrm>
            <a:off x="6099048" y="2990088"/>
            <a:ext cx="246888" cy="146304"/>
          </a:xfrm>
          <a:prstGeom prst="left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55080" y="1188720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Adapters</a:t>
            </a: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(local  ➜  Google Cloud)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355080" y="1463040"/>
            <a:ext cx="2468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LLM</a:t>
            </a:r>
          </a:p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API (AI Studio key)  ➜  </a:t>
            </a: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Secret Manager key / Vertex AI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355080" y="2148840"/>
            <a:ext cx="2468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Operational DB</a:t>
            </a:r>
          </a:p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SQLite file (no server)  ➜  </a:t>
            </a: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SQL for PostgreSQL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355080" y="2834640"/>
            <a:ext cx="2468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Files, uploads &amp; exports</a:t>
            </a:r>
          </a:p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local var/ folder  ➜  </a:t>
            </a: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Storage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355080" y="3520440"/>
            <a:ext cx="2468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Hosting &amp; secrets</a:t>
            </a:r>
          </a:p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uvicorn + Vite, .env  ➜  </a:t>
            </a: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+ Secret Manager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355080" y="4206240"/>
            <a:ext cx="2468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Build &amp; deploy</a:t>
            </a:r>
          </a:p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deploy.sh (no local Docker)  ➜  </a:t>
            </a:r>
            <a:r>
              <a:rPr sz="7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Build + Artifact Registry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320040" y="1188720"/>
          <a:ext cx="85039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931920"/>
                <a:gridCol w="3108960"/>
              </a:tblGrid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Layer</a:t>
                      </a:r>
                    </a:p>
                  </a:txBody>
                  <a:tcPr marL="73152" marR="73152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Prototype (built and running)</a:t>
                      </a:r>
                    </a:p>
                  </a:txBody>
                  <a:tcPr marL="73152" marR="73152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Google Cloud (production)</a:t>
                      </a:r>
                    </a:p>
                  </a:txBody>
                  <a:tcPr marL="73152" marR="73152" anchor="ctr">
                    <a:solidFill>
                      <a:srgbClr val="20212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Frontend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React 19, TypeScript, Vite, Recharts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Built into the API image, served by Cloud Run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Backend API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Python 3.12, FastAPI, Pydantic v2, SQLAlchemy 2, Uvicorn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Cloud Run, Secret Manager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Generative 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google-genai, gemini-3.5-flash-lite via the Gemini API; validated JSON tasks; tool-calling assistant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Gemini API (key in Secret Manager) or Gemini on Vertex 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Decision engine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Holt-Winters and Croston/SBA in NumPy; stochastic simulator; exact knapsack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Same code in Cloud Run (CPU always allocated)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Data &amp; files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SQLite (no database server); local folder for uploads, exports, forecast cache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Cloud SQL for PostgreSQL, Cloud Storage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Evaluation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Extraction gold set, rolling backtest, Monte Carlo, 11-model comparison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Same jobs; CSV exports ready for BigQuery</a:t>
                      </a:r>
                    </a:p>
                  </a:txBody>
                  <a:tcPr marL="73152" marR="73152" anchor="ctr">
                    <a:solidFill>
                      <a:srgbClr val="F1F3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Quality &amp; delivery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pytest (160 tests), oxlint, strict TypeScript, LLM call log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A73E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Cloud Build → Artifact Registry → Cloud Run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320040" y="1188720"/>
          <a:ext cx="5394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188720"/>
              </a:tblGrid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Component (one brand, as deploy.sh sets it up)</a:t>
                      </a:r>
                    </a:p>
                  </a:txBody>
                  <a:tcPr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US$ / month</a:t>
                      </a:r>
                    </a:p>
                  </a:txBody>
                  <a:tcPr anchor="ctr">
                    <a:solidFill>
                      <a:srgbClr val="20212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Cloud Run: API + UI, 2 vCPU / 2 GiB, one always-on instance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90 – 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Cloud SQL for PostgreSQL 16: db-g1-small, 10 GB</a:t>
                      </a:r>
                    </a:p>
                  </a:txBody>
                  <a:tcPr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25 – 40</a:t>
                      </a:r>
                    </a:p>
                  </a:txBody>
                  <a:tcPr anchor="ctr">
                    <a:solidFill>
                      <a:srgbClr val="F1F3F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Gemini 3.5 Flash-Lite (Gemini API): ~10M input + 1M output tokens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5 –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Cloud Storage, Secret Manager, Artifact Registry, Cloud Build</a:t>
                      </a:r>
                    </a:p>
                  </a:txBody>
                  <a:tcPr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&lt; 3</a:t>
                      </a:r>
                    </a:p>
                  </a:txBody>
                  <a:tcPr anchor="ctr">
                    <a:solidFill>
                      <a:srgbClr val="F1F3F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Total running cost, single tenant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≈ 120 – 160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Lean pilot: 1 vCPU / 1 GiB, background jobs on Cloud Tasks, scale to zero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≈ 35 – 55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129" name="TextBox 128"/>
          <p:cNvSpPr txBox="1"/>
          <p:nvPr/>
        </p:nvSpPr>
        <p:spPr>
          <a:xfrm>
            <a:off x="320040" y="4251960"/>
            <a:ext cx="53949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Indicative list prices (asia-south1); confirm with the Google Cloud Pricing Calculator. Excludes team effort. Cost does not grow with revenue: a 300-SKU catalogue adds roughly US$ 50–90 of Gemini calls a month on the same servers. Smaller brands can share one multi-tenant deployment.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897880" y="1188720"/>
            <a:ext cx="2926080" cy="1783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5897880" y="1298448"/>
            <a:ext cx="54864" cy="1563624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025896" y="1261872"/>
            <a:ext cx="2724912" cy="1655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Usage assumptions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Daily re-forecast of 30 SKUs (≈900 forecast calls a month).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≈300 plans, 600 messages and 1,000 assistant questions a month.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Measured LLM outputs are small: 0.2–2.3k characters per call.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897880" y="3063240"/>
            <a:ext cx="2926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5897880" y="3172968"/>
            <a:ext cx="54864" cy="1609344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025896" y="3136392"/>
            <a:ext cx="2724912" cy="17007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E8E3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Cost vs value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Dedicated deployment ≈ ₹10.5k–14k a month (at ₹88 / US$).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Simulated loss avoided for the demo brand (₹4.3 crore revenue a month): ₹1.6–4.0 lakh a month.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≈ 11–38× the running cost. At a twentieth of this size (≈ ₹2.6 crore a year) a dedicated instance only breaks even, so small brands should share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crop_0_pl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91414"/>
            <a:ext cx="4160520" cy="1477107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20040" y="2907791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 options: the same ₹10 lakh four ways, tested in calm and shocked futures</a:t>
            </a:r>
          </a:p>
        </p:txBody>
      </p:sp>
      <p:pic>
        <p:nvPicPr>
          <p:cNvPr id="138" name="Picture 137" descr="crop_1_assista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193875"/>
            <a:ext cx="4160520" cy="1672185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4663440" y="2907791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Planning assistant: “10 lakh vs 15 lakh?” answered from a planner tool; 34 values checked</a:t>
            </a:r>
          </a:p>
        </p:txBody>
      </p:sp>
      <p:pic>
        <p:nvPicPr>
          <p:cNvPr id="140" name="Picture 139" descr="crop_2_sim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157038"/>
            <a:ext cx="4160520" cy="1549763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320040" y="4809744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Simple view (default): three big buttons; budget, then how to buy</a:t>
            </a:r>
          </a:p>
        </p:txBody>
      </p:sp>
      <p:pic>
        <p:nvPicPr>
          <p:cNvPr id="142" name="Picture 141" descr="crop_3_pl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531870"/>
            <a:ext cx="4160520" cy="800099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4663440" y="4809744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Robustness: 120 simulated futures vs reorder rules; weekly re-planning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 /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44" name="Chart 143"/>
          <p:cNvGraphicFramePr>
            <a:graphicFrameLocks noGrp="1"/>
          </p:cNvGraphicFramePr>
          <p:nvPr/>
        </p:nvGraphicFramePr>
        <p:xfrm>
          <a:off x="274320" y="1143000"/>
          <a:ext cx="5257800" cy="301752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320040" y="4206240"/>
            <a:ext cx="521208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policy starts from the same stock and budget and faces the same simulated demand and supplier delays. Fill rate 89.7% vs 88.6–88.8% for the rules; hero-SKU fill 80.3% vs 75.2%.</a:t>
            </a:r>
          </a:p>
          <a:p>
            <a:pPr>
              <a:spcAft>
                <a:spcPts val="200"/>
              </a:spcAft>
            </a:pPr>
            <a:r>
              <a:rPr sz="800" b="1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Engineering:</a:t>
            </a: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160 automated tests pass · 30 / 30 seed forecasts passed LLM validation · every LLM call logged with its status.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669280" y="1161288"/>
            <a:ext cx="315468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5669280" y="125272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788152" y="1197864"/>
            <a:ext cx="2990088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050" b="1" i="0">
                <a:solidFill>
                  <a:srgbClr val="1E8E3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₹3.8 lakh / ₹1.8 lakh a month lower loss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Mean vs static / tuned reorder rule; better in 120 of 120 futures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669280" y="1911095"/>
            <a:ext cx="315468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5669280" y="2002536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788152" y="1947672"/>
            <a:ext cx="2990088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050" b="1" i="0">
                <a:solidFill>
                  <a:srgbClr val="1E8E3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30% reserve: ₹0.9–1.1 lakh further gain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Re-planned at weekly reviews; better in 10 / 10 calm and 9 / 10 shocked futures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669280" y="2660904"/>
            <a:ext cx="315468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5669280" y="2752344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788152" y="2697480"/>
            <a:ext cx="2990088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0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Extraction F1 0.97 vs 0.65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LLM + validators vs keyword rules, 40 labelled messages; plans from LLM signals keep 100% of the gold-signal gain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669280" y="3410712"/>
            <a:ext cx="315468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5669280" y="3502152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788152" y="3447288"/>
            <a:ext cx="2990088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0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Forecast WAPE 21.5% vs 23.0%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Hybrid vs statistical, 1,050 points (22.2% vs 23.9% on 16 text-only series)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5669280" y="4160520"/>
            <a:ext cx="315468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5669280" y="4251959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788152" y="4197096"/>
            <a:ext cx="2990088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0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Assistant: 6 / 6 answers number-checked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 on the first try, 1 after one repair; 3–10 s each (gemini-3.5-flash-lite)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 /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20040" y="1188720"/>
            <a:ext cx="2743200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320040" y="1298448"/>
            <a:ext cx="54864" cy="3026663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48056" y="1261872"/>
            <a:ext cx="2542032" cy="311810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Product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Multi-warehouse and channel allocation (marketplace vs D2C).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Email / WhatsApp connectors and auto-drafted supplier follow-ups.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SAP, Unicommerce and Shopify connectors for stock and POs.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 for signal uncertainty: one misread day can move ₹1 lakh.</a:t>
            </a:r>
          </a:p>
          <a:p>
            <a:pPr marL="155448" indent="-137160">
              <a:spcAft>
                <a:spcPts val="300"/>
              </a:spcAft>
              <a:buClr>
                <a:srgbClr val="1A73E8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Learn event multipliers from realised outcomes.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200400" y="1188720"/>
            <a:ext cx="2743200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3200400" y="1298448"/>
            <a:ext cx="54864" cy="3026663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328416" y="1261872"/>
            <a:ext cx="2542032" cy="311810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1E8E3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Platform on Google Cloud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 live on Cloud Run + Cloud SQL (scripted in deploy.sh).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Benchmark larger Gemini models on a paid key; route each task to its best model.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Background jobs on Cloud Tasks; multi-tenant auth via Identity Platform.</a:t>
            </a:r>
          </a:p>
          <a:p>
            <a:pPr marL="155448" indent="-137160">
              <a:spcAft>
                <a:spcPts val="300"/>
              </a:spcAft>
              <a:buClr>
                <a:srgbClr val="1E8E3E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BigQuery ML forecasts as a second benchmark; Looker dashboards.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080759" y="1188720"/>
            <a:ext cx="2743200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6080759" y="1298448"/>
            <a:ext cx="54864" cy="3026663"/>
          </a:xfrm>
          <a:prstGeom prst="roundRect">
            <a:avLst>
              <a:gd name="adj" fmla="val 50000"/>
            </a:avLst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208775" y="1261872"/>
            <a:ext cx="2542032" cy="311810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E374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Validation &amp; go-to-market</a:t>
            </a:r>
          </a:p>
          <a:p>
            <a:pPr marL="155448" indent="-137160">
              <a:spcAft>
                <a:spcPts val="300"/>
              </a:spcAft>
              <a:buClr>
                <a:srgbClr val="E37400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Pilot with 2–3 mid-size FMCG / D2C brands on their real data.</a:t>
            </a:r>
          </a:p>
          <a:p>
            <a:pPr marL="155448" indent="-137160">
              <a:spcAft>
                <a:spcPts val="300"/>
              </a:spcAft>
              <a:buClr>
                <a:srgbClr val="E37400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Measure realised savings against the simulated scorecard.</a:t>
            </a:r>
          </a:p>
          <a:p>
            <a:pPr marL="155448" indent="-137160">
              <a:spcAft>
                <a:spcPts val="300"/>
              </a:spcAft>
              <a:buClr>
                <a:srgbClr val="E37400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Grow the gold set with real, operator-labelled messages.</a:t>
            </a:r>
          </a:p>
          <a:p>
            <a:pPr marL="155448" indent="-137160">
              <a:spcAft>
                <a:spcPts val="300"/>
              </a:spcAft>
              <a:buClr>
                <a:srgbClr val="E37400"/>
              </a:buClr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Pricing: subscription per SKU band, well below the savings.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20040" y="4526280"/>
            <a:ext cx="8503920" cy="3840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Responsible AI:</a:t>
            </a:r>
            <a:r>
              <a:rPr sz="9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the LLM never sets quantities or money; every output is validated, labelled and logged, and signals need human confirmation.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Links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320040" y="1280160"/>
            <a:ext cx="85039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320040" y="138988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02920" y="1325880"/>
            <a:ext cx="8229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GitHub public repository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https://github.com/Xhahat/inventory-rescue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20040" y="2148839"/>
            <a:ext cx="85039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320040" y="225856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02920" y="2194559"/>
            <a:ext cx="8229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 video (3 minutes)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D9302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[Add demo video URL]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20040" y="3017520"/>
            <a:ext cx="85039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320040" y="312724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02920" y="3063239"/>
            <a:ext cx="8229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Final product link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D9302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[Add deployed URL]  ·  runs locally at http://localhost:5173 (see README)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Which LLM? The same evaluations on 11 models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67" name="Table 166"/>
          <p:cNvGraphicFramePr>
            <a:graphicFrameLocks noGrp="1"/>
          </p:cNvGraphicFramePr>
          <p:nvPr/>
        </p:nvGraphicFramePr>
        <p:xfrm>
          <a:off x="320040" y="1143000"/>
          <a:ext cx="8503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868680"/>
                <a:gridCol w="868680"/>
                <a:gridCol w="868680"/>
                <a:gridCol w="1234440"/>
                <a:gridCol w="1234440"/>
                <a:gridCol w="1143000"/>
                <a:gridCol w="960120"/>
              </a:tblGrid>
              <a:tr h="2514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Model</a:t>
                      </a:r>
                    </a:p>
                  </a:txBody>
                  <a:tcPr marL="45720" marR="45720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Extraction F1</a:t>
                      </a:r>
                    </a:p>
                  </a:txBody>
                  <a:tcPr marL="45720" marR="45720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Messages correct</a:t>
                      </a:r>
                    </a:p>
                  </a:txBody>
                  <a:tcPr marL="45720" marR="45720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Signal value kept</a:t>
                      </a:r>
                    </a:p>
                  </a:txBody>
                  <a:tcPr marL="45720" marR="45720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Forecast WAPE (statistical)</a:t>
                      </a:r>
                    </a:p>
                  </a:txBody>
                  <a:tcPr marL="45720" marR="45720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Text-only WAPE (statistical)</a:t>
                      </a:r>
                    </a:p>
                  </a:txBody>
                  <a:tcPr marL="45720" marR="45720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Assistant checked (first try)</a:t>
                      </a:r>
                    </a:p>
                  </a:txBody>
                  <a:tcPr marL="45720" marR="45720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Assistant median</a:t>
                      </a:r>
                    </a:p>
                  </a:txBody>
                  <a:tcPr marL="45720" marR="45720" marT="18288" marB="18288" anchor="ctr">
                    <a:solidFill>
                      <a:srgbClr val="20212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gemini-3.5-flash-lite (default)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0.966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95.0%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21.5% (23.0%)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22.2% (23.9%)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6/6 (5)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4.0 s</a:t>
                      </a:r>
                    </a:p>
                  </a:txBody>
                  <a:tcPr marL="45720" marR="45720" marT="18288" marB="18288" anchor="ctr">
                    <a:solidFill>
                      <a:srgbClr val="E8F0F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claudesonnet4.5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1.000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100.0%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20.9% (23.0%)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19.0% (23.9%)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5/6 (5)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10.3 s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gpt-5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0.983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97.5%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21.0% (23.2%)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19.2% (23.9%)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6/6 (6)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30.4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gpt-5.1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0.983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97.5%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20.9% (23.0%)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19.6% (23.9%)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6/6 (6)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11.9 s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claudesonnet4.6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0.983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97.5%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21.6% (23.0%)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20.1% (23.9%)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6/6 (5)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10.3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qwen3.6-27b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0.966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95.0%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21.0% (23.0%)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20.2% (23.9%)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6/6 (5)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8.8 s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claudeopus5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0.983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97.5%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21.3% (23.0%)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20.2% (23.9%)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6/6 (4)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12.3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gpt-5.6-luna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0.983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97.5%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21.2% (23.0%)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20.3% (23.9%)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6/6 (6)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14.8 s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gpt-5.2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0.983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97.5%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21.3% (23.0%)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21.2% (23.9%)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6/6 (6)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8.4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gpt-5.3-chat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0.983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97.5%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21.5% (23.0%)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21.6% (23.9%)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0/6 (0)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1F3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gpt-5.4-mini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0.968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95.0%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21.5% (23.1%)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21.9% (24.2%)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6/6 (5)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3.9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8" name="TextBox 167"/>
          <p:cNvSpPr txBox="1"/>
          <p:nvPr/>
        </p:nvSpPr>
        <p:spPr>
          <a:xfrm>
            <a:off x="320040" y="4224528"/>
            <a:ext cx="85039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50" b="1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model beats the statistical forecast</a:t>
            </a: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(by 1.7–4.9 pp on text-only series); extraction is near saturated (38–40 of 40 messages). gemini-3.5-flash-lite (Gemini API) is the default: as fast as the quickest model and 6 / 6 assistant answers checked; a stronger model could run the overnight forecasts.</a:t>
            </a:r>
          </a:p>
          <a:p>
            <a:pPr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Signal value kept: share of the gold-signal plan gain kept by plans built from the model's signals (found and fixed an end-date bug: −17% → 100%). gpt-5.3-chat's gateway rejects tool calls. Larger Gemini models need a paid key (free tier: 20 requests a day).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